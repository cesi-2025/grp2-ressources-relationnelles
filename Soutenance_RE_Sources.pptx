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A5D"/>
              </a:gs>
              <a:gs pos="100000">
                <a:srgbClr val="1D3A6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40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(RE)Sources Relationnelles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0" i="1">
                <a:solidFill>
                  <a:srgbClr val="CCDDEE"/>
                </a:solidFill>
                <a:latin typeface="Calibri"/>
              </a:defRPr>
            </a:pPr>
            <a:r>
              <a:t>Plateforme de ressources pour l'amelioration des relations entre citoyens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Projet collaboratif — INFCDAAL2 — CESI Ecole d'Ingenieurs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Chamil MUSAYEV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Backend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API, BDD, Auth, Securite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Jamal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Frontend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Next.js, RGAA,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Romain CONDOMITTI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Back-office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Admin, Auth, Moderation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206240"/>
            <a:ext cx="2468880" cy="123444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Leon HEU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6451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1" i="0">
                <a:solidFill>
                  <a:srgbClr val="FFC107"/>
                </a:solidFill>
                <a:latin typeface="Calibri"/>
              </a:defRPr>
            </a:pPr>
            <a:r>
              <a:t>Mobile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956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AABBCC"/>
                </a:solidFill>
                <a:latin typeface="Calibri"/>
              </a:defRPr>
            </a:pPr>
            <a:r>
              <a:t>React Native, Expo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8899BB"/>
                </a:solidFill>
                <a:latin typeface="Calibri"/>
              </a:defRPr>
            </a:pPr>
            <a:r>
              <a:t>Soutenance — Avril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Contexte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Le Ministere des Solidarites et de la Sante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1" i="0">
                <a:solidFill>
                  <a:srgbClr val="1D3A6D"/>
                </a:solidFill>
                <a:latin typeface="Calibri"/>
              </a:defRPr>
            </a:pPr>
            <a:r>
              <a:t>Pourquoi ce projet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Commande simulee du Ministere des Solidarites et de la Sante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Constat : la qualite de nos relations est un levier majeur de bien-etre (Maslow)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Objectif : plateforme de ressources pour tous les types de relations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Cible : couple, famille, amis, collegues — tous les citoyens</a:t>
            </a:r>
          </a:p>
          <a:p>
            <a:pPr>
              <a:lnSpc>
                <a:spcPts val="2080"/>
              </a:lnSpc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Fonctionnalites : consultation, creation, echanges moderes, progression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389120" cy="32004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Pyramide de Maslow</a:t>
            </a:r>
            <a:br/>
            <a:r>
              <a:t>(schema simplifie)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520"/>
            <a:ext cx="11064240" cy="822960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  <a:defRPr sz="1500" b="0" i="1">
                <a:solidFill>
                  <a:srgbClr val="1D3A6D"/>
                </a:solidFill>
                <a:latin typeface="Calibri"/>
              </a:defRPr>
            </a:pPr>
            <a:r>
              <a:t>"L'un des leviers les plus importants reste la qualite de nos relations aux autres" — Cahier des charges CCTP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Analyse fonctionnelle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Diagramme de cas d'utilisation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85800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de cas d'utilisation UML</a:t>
            </a:r>
            <a:br/>
            <a:br/>
            <a:r>
              <a:t>5 acteurs : Citoyen non connecte, Citoyen connecte,</a:t>
            </a:r>
            <a:br/>
            <a:r>
              <a:t>Moderateur, Administrateur, Super-admin</a:t>
            </a:r>
            <a:br/>
            <a:br/>
            <a:r>
              <a:t>(draw.io / PlantUML / StarUML)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Citoyen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Consulte, cree, commente, favoris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51460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Moderateur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Valide ressources et commentaires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56616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Administrateur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Statistiques, suspension, catalogue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61772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Super-admin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Cree comptes privilegies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Analyse de la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Bete a cornes et diagramme pieuvre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bete a cornes</a:t>
            </a:r>
            <a:br/>
            <a:br/>
            <a:r>
              <a:t>A qui ? Citoyens, familles, couples</a:t>
            </a:r>
            <a:br/>
            <a:r>
              <a:t>Sur quoi ? Relations interpersonnelles</a:t>
            </a:r>
            <a:br/>
            <a:r>
              <a:t>Pourquoi ? Ameliorer la qualite des liens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Diagramme pieuvre</a:t>
            </a:r>
            <a:br/>
            <a:br/>
            <a:r>
              <a:t>FP1 : Acces web aux ressources</a:t>
            </a:r>
            <a:br/>
            <a:r>
              <a:t>FP2 : Acces mobile</a:t>
            </a:r>
            <a:br/>
            <a:r>
              <a:t>FC1 : RGPD / RGAA</a:t>
            </a:r>
            <a:br/>
            <a:r>
              <a:t>FC2 : Performance</a:t>
            </a:r>
            <a:br/>
            <a:r>
              <a:t>FC3 : Navigateurs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FP = Fonction Principale    |    FC = Fonction Contrainte    |    Les deux diagrammes ont ete realises conformement au CCTP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Choix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Pourquoi Laravel + Next.js + PostgreSQL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Critere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Laravel 11 (retenu)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222222"/>
                </a:solidFill>
                <a:latin typeface="Calibri"/>
              </a:defRPr>
            </a:pPr>
            <a:r>
              <a:t>Symfony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56032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222222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MVC natif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Oui, convention over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Oui, plus verbeux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Non, structuration manuelle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Auth integree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Sanctum (tokens API legers)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Security Bundle (complexe)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Passport.js (tiers)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Eloquent (Active Record)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Doctrine (Data Mapper)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01752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Sequelize/Prisma (tiers)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FormRequest declares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Annotations/constraints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611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Joi/Yup (tiers)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 i="0">
                <a:solidFill>
                  <a:srgbClr val="1D3A6D"/>
                </a:solidFill>
                <a:latin typeface="Calibri"/>
              </a:defRPr>
            </a:pPr>
            <a:r>
              <a:t>Courbe apprentissage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4CAF50"/>
                </a:solidFill>
                <a:latin typeface="Calibri"/>
              </a:defRPr>
            </a:pPr>
            <a:r>
              <a:t>Moderee, doc excellente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Elevee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4114800"/>
            <a:ext cx="2560320" cy="5486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Faible mais pas de structure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Next.js 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App Router, SSR, TypeScript, Tailwind v4</a:t>
            </a:r>
            <a:br/>
            <a:r>
              <a:t>Expertise React de l'equipe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348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3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Chiffrement natif pour RGPD</a:t>
            </a:r>
            <a:br/>
            <a:r>
              <a:t>Robustesse ACID, image Docker legere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21040" y="4937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React Native / Expo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440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Cross-platform iOS + Android</a:t>
            </a:r>
            <a:br/>
            <a:r>
              <a:t>Meme ecosysteme que le web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Demo — Parcours citoyen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Front-office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DEMO LIVE — Front-office</a:t>
            </a:r>
            <a:br/>
            <a:br/>
            <a:r>
              <a:t>Basculer vers le navigateur ici</a:t>
            </a:r>
            <a:br/>
            <a:r>
              <a:t>http://localhost:3005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Parcours a montrer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1. Page d'accueil (hero, categories)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2. Listing ressources + filtres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3. Detail ressource + commentaires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4. Inscription nouveau compte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5. Connexion citoyen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6. Ajout favori + commentaire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7. Tableau de progression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Backup : captures d'ecran si Docker ne demarre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Demo — Espace d'administration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Back-office et moderation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DEMO LIVE — Back-office admin</a:t>
            </a:r>
            <a:br/>
            <a:br/>
            <a:r>
              <a:t>Basculer vers le navigateur ici</a:t>
            </a:r>
            <a:br/>
            <a:r>
              <a:t>http://localhost:3005/administration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Parcours a montrer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1. Dashboard stats (barres + donut)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2. Metriques cles (users, actifs...)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3. Moderation : approuver ressource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4. Moderation : gerer commentaires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5. Gestion utilisateurs (CRUD)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6. Gestion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029200"/>
            <a:ext cx="3657600" cy="10972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51206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Compte demo :</a:t>
            </a:r>
            <a:br/>
            <a:r>
              <a:t>superadmin@ressources.local</a:t>
            </a:r>
            <a:br/>
            <a:r>
              <a:t>Mot de passe : password123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Application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React Native / Expo — Cross-platform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[IMAGE A INSERER]</a:t>
            </a:r>
            <a:br/>
            <a:r>
              <a:t>Schema d'architecture mobile</a:t>
            </a:r>
            <a:br/>
            <a:br/>
            <a:r>
              <a:t>Ecrans React Navigation (stack/tab)</a:t>
            </a:r>
            <a:br/>
            <a:r>
              <a:t>→ API REST Laravel</a:t>
            </a:r>
            <a:br/>
            <a:r>
              <a:t>→ AsyncStorage pour le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Ecrans principaux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920240"/>
            <a:ext cx="164592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Ecran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920240"/>
            <a:ext cx="173736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Fonctionnalite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920240"/>
            <a:ext cx="2194560" cy="32004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938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400"/>
              </a:spcAft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Endpoint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240280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2860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Accueil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240280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286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Acces rapide ressources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240280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/api/resources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62432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6700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Ressources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62432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6700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Liste + filtres + recherche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624328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6700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/api/resources?...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08376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0540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008376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3054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Contenu, commentaires, favori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3008376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540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/resources/{id}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39242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343814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Connexion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39242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34381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392424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4381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POST /api/login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776472"/>
            <a:ext cx="164592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38221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Profil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3776472"/>
            <a:ext cx="17373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38221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Info utilisateur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776472"/>
            <a:ext cx="2194560" cy="384048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3822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160520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42062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Progression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416052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4206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Favoris, exploites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4160520"/>
            <a:ext cx="21945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42062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222222"/>
                </a:solidFill>
                <a:latin typeface="Calibri"/>
              </a:defRPr>
            </a:pPr>
            <a:r>
              <a:t>GET /api/progression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1D3A6D"/>
                </a:solidFill>
                <a:latin typeface="Calibri"/>
              </a:defRPr>
            </a:pPr>
            <a:r>
              <a:t>Un seul backend pour deux clients : l'application mobile consomme exactement la meme API REST que le web — aucune duplication de logique.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Securite en profondeur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Couches de protection et headers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Sanitization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strip_tags, trim, normalisation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5303520" cy="7315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FormRequest, regles declaratives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54096"/>
            <a:ext cx="5303520" cy="731520"/>
          </a:xfrm>
          <a:prstGeom prst="round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27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Sanctum, tokens Bearer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95344"/>
            <a:ext cx="5303520" cy="7315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Controle de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611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RoleMiddleware + ResourcePolicy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36592"/>
            <a:ext cx="5303520" cy="7315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9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Chiffrement BDD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 i="0">
                <a:solidFill>
                  <a:srgbClr val="EEEEEE"/>
                </a:solidFill>
                <a:latin typeface="Calibri"/>
              </a:defRPr>
            </a:pPr>
            <a:r>
              <a:t>Crypt::encryptString, email_hash SHA-256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Headers de securite 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X-Content-Type-Options: nosniff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X-Frame-Options: DENY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Referrer-Policy: no-referrer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X-XSS-Protection: 1; mode=block</a:t>
            </a:r>
          </a:p>
          <a:p>
            <a:pPr>
              <a:lnSpc>
                <a:spcPts val="1560"/>
              </a:lnSpc>
              <a:spcAft>
                <a:spcPts val="6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   Content-Security-Policy: default-src 'none';</a:t>
            </a:r>
            <a:br/>
            <a:r>
              <a:t>  frame-ancestors 'none'; base-uri 'self'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5303520" cy="91440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97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53E3E"/>
                </a:solidFill>
                <a:latin typeface="Calibri"/>
              </a:defRPr>
            </a:pPr>
            <a:r>
              <a:t>Rate Limiting : 5 tentatives/min sur /login et /register</a:t>
            </a:r>
            <a:br/>
            <a:r>
              <a:t>HTTP 429 Too Many Requests apres depassement</a:t>
            </a:r>
            <a:br/>
            <a:r>
              <a:t>Teste dans AuthEndpointsTest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530352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394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4CAF50"/>
                </a:solidFill>
                <a:latin typeface="Calibri"/>
              </a:defRPr>
            </a:pPr>
            <a:r>
              <a:t>RGPD : anonymisation logique via DELETE /api/user</a:t>
            </a:r>
            <a:br/>
            <a:r>
              <a:t>Nom → 'Deleted User' | Email → deleted-user-{uuid}@example.invalid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Notre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Sprints, Git Flow et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Timeline des sprints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560320" cy="1463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S1 — Fondations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Setup Laravel,</a:t>
            </a:r>
            <a:br/>
            <a:r>
              <a:t>Next.js, Expo,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560320" cy="146304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S2 — Coeur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CRUD ressources,</a:t>
            </a:r>
            <a:br/>
            <a:r>
              <a:t>commentaires, favoris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920240"/>
            <a:ext cx="2560320" cy="14630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S3 — Avance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Admin, stats,</a:t>
            </a:r>
            <a:br/>
            <a:r>
              <a:t>RGAA,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920240"/>
            <a:ext cx="2560320" cy="14630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S4 —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  <a:defRPr sz="1200" b="0" i="0">
                <a:solidFill>
                  <a:srgbClr val="EEEEEE"/>
                </a:solidFill>
                <a:latin typeface="Calibri"/>
              </a:defRPr>
            </a:pPr>
            <a:r>
              <a:t>Tests, docs,</a:t>
            </a:r>
            <a:br/>
            <a:r>
              <a:t>corrections, 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Git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main         Production stable, merge en fin de sprint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develop     Integration, toutes les features mergees via PR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feature/*   Branches par fonctionnalite, squash and merge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1D3A6D"/>
                </a:solidFill>
                <a:latin typeface="Calibri"/>
              </a:defRPr>
            </a:pPr>
            <a:r>
              <a:t>Conventional 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feat:      nouvelle fonctionnalite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fix:        correction de bug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docs:     documentation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test:      ajout de tests</a:t>
            </a:r>
          </a:p>
          <a:p>
            <a:pPr>
              <a:lnSpc>
                <a:spcPts val="1690"/>
              </a:lnSpc>
              <a:spcAft>
                <a:spcPts val="6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   refactor: refactorisation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  <a:defRPr sz="1300" b="1" i="0">
                <a:solidFill>
                  <a:srgbClr val="CC7700"/>
                </a:solidFill>
                <a:latin typeface="Calibri"/>
              </a:defRPr>
            </a:pPr>
            <a:r>
              <a:t>Regle d'or : jamais de push direct sur main ou develop — tout passe par Pull Request avec review obligatoire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D3A6D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 i="1">
                <a:solidFill>
                  <a:srgbClr val="BBCCEE"/>
                </a:solidFill>
                <a:latin typeface="Calibri"/>
              </a:defRPr>
            </a:pPr>
            <a:r>
              <a:t>Ce qui a bien fonctionne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  <a:defRPr sz="1100" b="0" i="1">
                <a:solidFill>
                  <a:srgbClr val="AABBDD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Architecture MVC stricte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Laravel : maintenabilite, testabilite,</a:t>
            </a:r>
            <a:br/>
            <a:r>
              <a:t>separation claire des responsabilites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Securite renforcee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Chiffrement donnees, anonymisation RGPD,</a:t>
            </a:r>
            <a:br/>
            <a:r>
              <a:t>headers HTTP, rate limiting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508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Accessibilite RGAA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745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Skip links, ARIA, focus visible, contraste AAA</a:t>
            </a:r>
            <a:br/>
            <a:r>
              <a:t>integres des la conception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27 tests backend + 117 tests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Backend : PHPUnit (Auth, CRUD, admin, moderation)</a:t>
            </a:r>
            <a:br/>
            <a:r>
              <a:t>Frontend : Vitest + Testing Library (API, composants, contextes)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Docker reproductible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4 services containerises, health checks,</a:t>
            </a:r>
            <a:br/>
            <a:r>
              <a:t>environnement identique pour tous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063240"/>
            <a:ext cx="35204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 i="0">
                <a:solidFill>
                  <a:srgbClr val="222222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200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 i="0">
                <a:solidFill>
                  <a:srgbClr val="1D3A6D"/>
                </a:solidFill>
                <a:latin typeface="Calibri"/>
              </a:defRPr>
            </a:pPr>
            <a:r>
              <a:t>Workflow Git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6616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PR obligatoires, review, conventional commits,</a:t>
            </a:r>
            <a:br/>
            <a:r>
              <a:t>squash and 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2A5D"/>
              </a:gs>
              <a:gs pos="100000">
                <a:srgbClr val="1D3A6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40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Et si on continuait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0" i="1">
                <a:solidFill>
                  <a:srgbClr val="AABBDD"/>
                </a:solidFill>
                <a:latin typeface="Calibri"/>
              </a:defRPr>
            </a:pPr>
            <a:r>
              <a:t>Perspectives d'evolution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Court terme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Tests E2E</a:t>
            </a:r>
            <a:br/>
            <a:r>
              <a:t>(Cypress / Playwright)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Enrichissement app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Couverture de code</a:t>
            </a:r>
            <a:br/>
            <a:r>
              <a:t>(Istanbul / c8)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47472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Moyen terme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Messagerie entre</a:t>
            </a:r>
            <a:br/>
            <a:r>
              <a:t>participants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Export statistiques</a:t>
            </a:r>
            <a:br/>
            <a:r>
              <a:t>(CSV, PDF)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Pipeline CI/CD</a:t>
            </a:r>
            <a:br/>
            <a:r>
              <a:t>(GitHub Actions)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347472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27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 i="0">
                <a:solidFill>
                  <a:srgbClr val="222222"/>
                </a:solidFill>
                <a:latin typeface="Calibri"/>
              </a:defRPr>
            </a:pPr>
            <a:r>
              <a:t>Long terme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19456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Support multilingue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2900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Notifications push</a:t>
            </a:r>
            <a:br/>
            <a:r>
              <a:t>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663440"/>
            <a:ext cx="3291840" cy="1051560"/>
          </a:xfrm>
          <a:prstGeom prst="roundRect">
            <a:avLst/>
          </a:prstGeom>
          <a:solidFill>
            <a:srgbClr val="152E55"/>
          </a:solidFill>
          <a:ln w="1270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Mode hors-ligne</a:t>
            </a:r>
            <a:br/>
            <a:r>
              <a:t>partiel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Merci de votre attention — Place aux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 i="0">
                <a:solidFill>
                  <a:srgbClr val="BBBBBB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