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2A5D"/>
              </a:gs>
              <a:gs pos="100000">
                <a:srgbClr val="1D3A6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59"/>
              </a:lnSpc>
              <a:spcAft>
                <a:spcPts val="400"/>
              </a:spcAft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(RE)Sources Relationnelles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400"/>
              </a:spcAft>
              <a:defRPr sz="2000" b="0" i="1">
                <a:solidFill>
                  <a:srgbClr val="CCDDEE"/>
                </a:solidFill>
                <a:latin typeface="Calibri"/>
              </a:defRPr>
            </a:pPr>
            <a:r>
              <a:rPr dirty="0" err="1"/>
              <a:t>Plateforme</a:t>
            </a:r>
            <a:r>
              <a:rPr dirty="0"/>
              <a:t> de </a:t>
            </a:r>
            <a:r>
              <a:rPr dirty="0" err="1"/>
              <a:t>ressources</a:t>
            </a:r>
            <a:r>
              <a:rPr dirty="0"/>
              <a:t> pour </a:t>
            </a:r>
            <a:r>
              <a:rPr dirty="0" err="1"/>
              <a:t>l'am</a:t>
            </a:r>
            <a:r>
              <a:rPr lang="fr-FR" dirty="0"/>
              <a:t>é</a:t>
            </a:r>
            <a:r>
              <a:rPr dirty="0" err="1"/>
              <a:t>lioration</a:t>
            </a:r>
            <a:r>
              <a:rPr dirty="0"/>
              <a:t> des relations entre </a:t>
            </a:r>
            <a:r>
              <a:rPr dirty="0" err="1"/>
              <a:t>citoyens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381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400"/>
              </a:spcAft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Projet collaboratif — INFCDAAL2 — CESI Ecole d'Ingenieurs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06240"/>
            <a:ext cx="2468880" cy="123444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Chamil MUSAYEV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451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FFC107"/>
                </a:solidFill>
                <a:latin typeface="Calibri"/>
              </a:defRPr>
            </a:pPr>
            <a:r>
              <a:t>Backend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560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AABBCC"/>
                </a:solidFill>
                <a:latin typeface="Calibri"/>
              </a:defRPr>
            </a:pPr>
            <a:r>
              <a:t>API, BDD, Auth, Securite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4206240"/>
            <a:ext cx="2468880" cy="123444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332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Jamal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6451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FFC107"/>
                </a:solidFill>
                <a:latin typeface="Calibri"/>
              </a:defRPr>
            </a:pPr>
            <a:r>
              <a:t>Frontend Lead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9560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AABBCC"/>
                </a:solidFill>
                <a:latin typeface="Calibri"/>
              </a:defRPr>
            </a:pPr>
            <a:r>
              <a:t>Next.js, RGAA,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206240"/>
            <a:ext cx="2468880" cy="123444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Romain CONDOMITTI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451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FFC107"/>
                </a:solidFill>
                <a:latin typeface="Calibri"/>
              </a:defRPr>
            </a:pPr>
            <a:r>
              <a:t>Back-office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560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AABBCC"/>
                </a:solidFill>
                <a:latin typeface="Calibri"/>
              </a:defRPr>
            </a:pPr>
            <a:r>
              <a:t>Admin, Auth, Moderation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4206240"/>
            <a:ext cx="2468880" cy="123444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1160" y="43159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Leon HEU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46451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FFC107"/>
                </a:solidFill>
                <a:latin typeface="Calibri"/>
              </a:defRPr>
            </a:pPr>
            <a:r>
              <a:t>Mobile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49560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AABBCC"/>
                </a:solidFill>
                <a:latin typeface="Calibri"/>
              </a:defRPr>
            </a:pPr>
            <a:r>
              <a:t>React Native, Expo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8899BB"/>
                </a:solidFill>
                <a:latin typeface="Calibri"/>
              </a:defRPr>
            </a:pPr>
            <a:r>
              <a:t>Soutenance — Avril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Contexte et enjeux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Le Ministere des Solidarites et de la Sante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400"/>
              </a:spcAft>
              <a:defRPr sz="2200" b="1" i="0">
                <a:solidFill>
                  <a:srgbClr val="1D3A6D"/>
                </a:solidFill>
                <a:latin typeface="Calibri"/>
              </a:defRPr>
            </a:pPr>
            <a:r>
              <a:t>Pourquoi ce projet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760720" cy="25413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600"/>
              </a:spcAft>
              <a:defRPr sz="1600">
                <a:solidFill>
                  <a:srgbClr val="222222"/>
                </a:solidFill>
                <a:latin typeface="Calibri"/>
              </a:defRPr>
            </a:pPr>
            <a:r>
              <a:rPr dirty="0"/>
              <a:t>   </a:t>
            </a:r>
            <a:r>
              <a:rPr dirty="0" err="1"/>
              <a:t>Commande</a:t>
            </a:r>
            <a:r>
              <a:rPr dirty="0"/>
              <a:t> simul</a:t>
            </a:r>
            <a:r>
              <a:rPr lang="fr-FR" dirty="0"/>
              <a:t>é</a:t>
            </a:r>
            <a:r>
              <a:rPr dirty="0"/>
              <a:t>e du </a:t>
            </a:r>
            <a:r>
              <a:rPr dirty="0" err="1"/>
              <a:t>Ministere</a:t>
            </a:r>
            <a:r>
              <a:rPr dirty="0"/>
              <a:t> des </a:t>
            </a:r>
            <a:r>
              <a:rPr dirty="0" err="1"/>
              <a:t>Solidarites</a:t>
            </a:r>
            <a:r>
              <a:rPr dirty="0"/>
              <a:t> et de la Sante</a:t>
            </a:r>
          </a:p>
          <a:p>
            <a:pPr>
              <a:lnSpc>
                <a:spcPts val="2080"/>
              </a:lnSpc>
              <a:spcAft>
                <a:spcPts val="600"/>
              </a:spcAft>
              <a:defRPr sz="1600">
                <a:solidFill>
                  <a:srgbClr val="222222"/>
                </a:solidFill>
                <a:latin typeface="Calibri"/>
              </a:defRPr>
            </a:pPr>
            <a:r>
              <a:rPr dirty="0"/>
              <a:t>   Constat : la </a:t>
            </a:r>
            <a:r>
              <a:rPr dirty="0" err="1"/>
              <a:t>qualit</a:t>
            </a:r>
            <a:r>
              <a:rPr lang="fr-FR" dirty="0"/>
              <a:t>é</a:t>
            </a:r>
            <a:r>
              <a:rPr dirty="0"/>
              <a:t> de </a:t>
            </a:r>
            <a:r>
              <a:rPr dirty="0" err="1"/>
              <a:t>nos</a:t>
            </a:r>
            <a:r>
              <a:rPr dirty="0"/>
              <a:t> relations est un levier </a:t>
            </a:r>
            <a:r>
              <a:rPr dirty="0" err="1"/>
              <a:t>majeur</a:t>
            </a:r>
            <a:r>
              <a:rPr dirty="0"/>
              <a:t> de bien-</a:t>
            </a:r>
            <a:r>
              <a:rPr lang="fr-FR" dirty="0"/>
              <a:t>ê</a:t>
            </a:r>
            <a:r>
              <a:rPr dirty="0" err="1"/>
              <a:t>tre</a:t>
            </a:r>
            <a:r>
              <a:rPr dirty="0"/>
              <a:t> (Maslow)</a:t>
            </a:r>
          </a:p>
          <a:p>
            <a:pPr>
              <a:lnSpc>
                <a:spcPts val="2080"/>
              </a:lnSpc>
              <a:spcAft>
                <a:spcPts val="600"/>
              </a:spcAft>
              <a:defRPr sz="1600">
                <a:solidFill>
                  <a:srgbClr val="222222"/>
                </a:solidFill>
                <a:latin typeface="Calibri"/>
              </a:defRPr>
            </a:pPr>
            <a:r>
              <a:rPr dirty="0"/>
              <a:t>   Objectif : </a:t>
            </a:r>
            <a:r>
              <a:rPr dirty="0" err="1"/>
              <a:t>plateforme</a:t>
            </a:r>
            <a:r>
              <a:rPr dirty="0"/>
              <a:t> de </a:t>
            </a:r>
            <a:r>
              <a:rPr dirty="0" err="1"/>
              <a:t>ressources</a:t>
            </a:r>
            <a:r>
              <a:rPr dirty="0"/>
              <a:t> pour </a:t>
            </a:r>
            <a:r>
              <a:rPr dirty="0" err="1"/>
              <a:t>tous</a:t>
            </a:r>
            <a:r>
              <a:rPr dirty="0"/>
              <a:t> les types de relations</a:t>
            </a:r>
          </a:p>
          <a:p>
            <a:pPr>
              <a:lnSpc>
                <a:spcPts val="2080"/>
              </a:lnSpc>
              <a:spcAft>
                <a:spcPts val="600"/>
              </a:spcAft>
              <a:defRPr sz="1600">
                <a:solidFill>
                  <a:srgbClr val="222222"/>
                </a:solidFill>
                <a:latin typeface="Calibri"/>
              </a:defRPr>
            </a:pPr>
            <a:r>
              <a:rPr dirty="0"/>
              <a:t>   </a:t>
            </a:r>
            <a:r>
              <a:rPr dirty="0" err="1"/>
              <a:t>Cible</a:t>
            </a:r>
            <a:r>
              <a:rPr dirty="0"/>
              <a:t> : couple, famille, </a:t>
            </a:r>
            <a:r>
              <a:rPr dirty="0" err="1"/>
              <a:t>amis</a:t>
            </a:r>
            <a:r>
              <a:rPr dirty="0"/>
              <a:t>, </a:t>
            </a:r>
            <a:r>
              <a:rPr dirty="0" err="1"/>
              <a:t>collegues</a:t>
            </a:r>
            <a:r>
              <a:rPr dirty="0"/>
              <a:t> — </a:t>
            </a:r>
            <a:r>
              <a:rPr dirty="0" err="1"/>
              <a:t>tous</a:t>
            </a:r>
            <a:r>
              <a:rPr dirty="0"/>
              <a:t> les </a:t>
            </a:r>
            <a:r>
              <a:rPr dirty="0" err="1"/>
              <a:t>citoyens</a:t>
            </a:r>
            <a:endParaRPr dirty="0"/>
          </a:p>
          <a:p>
            <a:pPr>
              <a:lnSpc>
                <a:spcPts val="2080"/>
              </a:lnSpc>
              <a:spcAft>
                <a:spcPts val="600"/>
              </a:spcAft>
              <a:defRPr sz="1600">
                <a:solidFill>
                  <a:srgbClr val="222222"/>
                </a:solidFill>
                <a:latin typeface="Calibri"/>
              </a:defRPr>
            </a:pPr>
            <a:r>
              <a:rPr dirty="0"/>
              <a:t>   </a:t>
            </a:r>
            <a:r>
              <a:rPr dirty="0" err="1"/>
              <a:t>Fonctionnalit</a:t>
            </a:r>
            <a:r>
              <a:rPr lang="fr-FR" dirty="0"/>
              <a:t>é</a:t>
            </a:r>
            <a:r>
              <a:rPr dirty="0"/>
              <a:t>s : consultation, creation, </a:t>
            </a:r>
            <a:r>
              <a:rPr dirty="0" err="1"/>
              <a:t>echanges</a:t>
            </a:r>
            <a:r>
              <a:rPr dirty="0"/>
              <a:t> </a:t>
            </a:r>
            <a:r>
              <a:rPr dirty="0" err="1"/>
              <a:t>moderes</a:t>
            </a:r>
            <a:r>
              <a:rPr dirty="0"/>
              <a:t>, progression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03520"/>
            <a:ext cx="11064240" cy="82296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400"/>
              </a:spcAft>
              <a:defRPr sz="1500" b="0" i="1">
                <a:solidFill>
                  <a:srgbClr val="1D3A6D"/>
                </a:solidFill>
                <a:latin typeface="Calibri"/>
              </a:defRPr>
            </a:pPr>
            <a:r>
              <a:t>"L'un des leviers les plus importants reste la qualite de nos relations aux autres" — Cahier des charges CCTP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2 / 14</a:t>
            </a:r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2CDDA8D3-0E07-E1F9-6272-87C247F725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5847" y="822960"/>
            <a:ext cx="6477000" cy="3638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Analyse fonctionnelle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Diagramme de cas d'utilisation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463040"/>
            <a:ext cx="3840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0" y="1600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Citoyen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65960"/>
            <a:ext cx="3291840" cy="286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 err="1"/>
              <a:t>Consulte</a:t>
            </a:r>
            <a:r>
              <a:rPr dirty="0"/>
              <a:t>, </a:t>
            </a:r>
            <a:r>
              <a:rPr dirty="0" err="1"/>
              <a:t>cr</a:t>
            </a:r>
            <a:r>
              <a:rPr lang="fr-FR" dirty="0"/>
              <a:t>é</a:t>
            </a:r>
            <a:r>
              <a:rPr dirty="0"/>
              <a:t>e, comment</a:t>
            </a:r>
            <a:r>
              <a:rPr lang="fr-FR" dirty="0"/>
              <a:t>é</a:t>
            </a:r>
            <a:r>
              <a:rPr dirty="0"/>
              <a:t>, </a:t>
            </a:r>
            <a:r>
              <a:rPr dirty="0" err="1"/>
              <a:t>favoris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7772400" y="2514600"/>
            <a:ext cx="3840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51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Moderateur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0175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Valide ressources et commentaires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566160"/>
            <a:ext cx="3840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80" y="3703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Administrateur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Statistiques, suspension, catalogue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617720"/>
            <a:ext cx="3840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4754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Super-admin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120640"/>
            <a:ext cx="3291840" cy="286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/>
              <a:t>Cr</a:t>
            </a:r>
            <a:r>
              <a:rPr lang="fr-FR" dirty="0"/>
              <a:t>é</a:t>
            </a:r>
            <a:r>
              <a:rPr dirty="0"/>
              <a:t>e </a:t>
            </a:r>
            <a:r>
              <a:rPr dirty="0" err="1"/>
              <a:t>comptes</a:t>
            </a:r>
            <a:r>
              <a:rPr dirty="0"/>
              <a:t> </a:t>
            </a:r>
            <a:r>
              <a:rPr dirty="0" err="1"/>
              <a:t>privilegi</a:t>
            </a:r>
            <a:r>
              <a:rPr lang="fr-FR" dirty="0"/>
              <a:t>é</a:t>
            </a:r>
            <a:r>
              <a:rPr dirty="0"/>
              <a:t>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3 / 14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E6876D4B-B10B-CA51-16B4-76167C9F4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63" y="1463040"/>
            <a:ext cx="723301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Analyse de la valeur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Bete a cornes et diagramme pieuvre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t>F </a:t>
            </a:r>
            <a:r>
              <a:rPr dirty="0"/>
              <a:t>= </a:t>
            </a:r>
            <a:r>
              <a:rPr dirty="0" err="1"/>
              <a:t>Fonction</a:t>
            </a:r>
            <a:r>
              <a:rPr dirty="0"/>
              <a:t> </a:t>
            </a:r>
            <a:r>
              <a:rPr dirty="0" err="1"/>
              <a:t>Contrainte</a:t>
            </a:r>
            <a:r>
              <a:rPr dirty="0"/>
              <a:t>    |    Les deux </a:t>
            </a:r>
            <a:r>
              <a:rPr dirty="0" err="1"/>
              <a:t>diagrammes</a:t>
            </a:r>
            <a:r>
              <a:rPr dirty="0"/>
              <a:t> </a:t>
            </a:r>
            <a:r>
              <a:rPr dirty="0" err="1"/>
              <a:t>ont</a:t>
            </a:r>
            <a:r>
              <a:rPr dirty="0"/>
              <a:t> </a:t>
            </a:r>
            <a:r>
              <a:rPr dirty="0" err="1"/>
              <a:t>ete</a:t>
            </a:r>
            <a:r>
              <a:rPr dirty="0"/>
              <a:t> </a:t>
            </a:r>
            <a:r>
              <a:rPr dirty="0" err="1"/>
              <a:t>realises</a:t>
            </a:r>
            <a:r>
              <a:rPr dirty="0"/>
              <a:t> </a:t>
            </a:r>
            <a:r>
              <a:rPr dirty="0" err="1"/>
              <a:t>conformement</a:t>
            </a:r>
            <a:r>
              <a:rPr dirty="0"/>
              <a:t> au CCTP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4 / 14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8946511-EED7-1A74-6072-7BAC239B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63040"/>
            <a:ext cx="3223260" cy="402468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5B8216B5-3A70-307A-AB6C-533511535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815" y="1249367"/>
            <a:ext cx="7084505" cy="40392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Choix technologiques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Pourquoi Laravel + Next.js + PostgreSQL 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560320" cy="50292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Critere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371600"/>
            <a:ext cx="2560320" cy="502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Laravel 12 (retenu)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371600"/>
            <a:ext cx="2560320" cy="502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14447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222222"/>
                </a:solidFill>
                <a:latin typeface="Calibri"/>
              </a:defRPr>
            </a:pPr>
            <a:r>
              <a:t>Symfony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371600"/>
            <a:ext cx="2560320" cy="502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14447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222222"/>
                </a:solidFill>
                <a:latin typeface="Calibri"/>
              </a:defRPr>
            </a:pPr>
            <a:r>
              <a:t>Express.js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2024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1" i="0">
                <a:solidFill>
                  <a:srgbClr val="1D3A6D"/>
                </a:solidFill>
                <a:latin typeface="Calibri"/>
              </a:defRPr>
            </a:pPr>
            <a:r>
              <a:t>MVC natif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92024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4CAF50"/>
                </a:solidFill>
                <a:latin typeface="Calibri"/>
              </a:defRPr>
            </a:pPr>
            <a:r>
              <a:t>Oui, convention over config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92024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Oui, plus verbeux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92024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5256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Non, structuration manuelle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1" i="0">
                <a:solidFill>
                  <a:srgbClr val="1D3A6D"/>
                </a:solidFill>
                <a:latin typeface="Calibri"/>
              </a:defRPr>
            </a:pPr>
            <a:r>
              <a:t>Auth integree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4688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83280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4CAF50"/>
                </a:solidFill>
                <a:latin typeface="Calibri"/>
              </a:defRPr>
            </a:pPr>
            <a:r>
              <a:t>Sanctum (tokens API legers)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4688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Security Bundle (complexe)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4688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0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Passport.js (tiers)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01752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1" i="0">
                <a:solidFill>
                  <a:srgbClr val="1D3A6D"/>
                </a:solidFill>
                <a:latin typeface="Calibri"/>
              </a:defRPr>
            </a:pPr>
            <a:r>
              <a:t>ORM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01752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8328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4CAF50"/>
                </a:solidFill>
                <a:latin typeface="Calibri"/>
              </a:defRPr>
            </a:pPr>
            <a:r>
              <a:t>Eloquent (Active Record)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301752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Doctrine (Data Mapper)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301752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52560" y="3063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Sequelize/Prisma (tiers)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56616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3611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1" i="0">
                <a:solidFill>
                  <a:srgbClr val="1D3A6D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356616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83280" y="3611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4CAF50"/>
                </a:solidFill>
                <a:latin typeface="Calibri"/>
              </a:defRPr>
            </a:pPr>
            <a:r>
              <a:t>FormRequest declares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356616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17920" y="3611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Annotations/constraints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20" y="356616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52560" y="3611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Joi/Yup (tiers)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1480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1" i="0">
                <a:solidFill>
                  <a:srgbClr val="1D3A6D"/>
                </a:solidFill>
                <a:latin typeface="Calibri"/>
              </a:defRPr>
            </a:pPr>
            <a:r>
              <a:t>Courbe apprentissage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411480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8328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4CAF50"/>
                </a:solidFill>
                <a:latin typeface="Calibri"/>
              </a:defRPr>
            </a:pPr>
            <a:r>
              <a:t>Moderee, doc excellente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411480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Elevee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61120" y="4114800"/>
            <a:ext cx="2560320" cy="548640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52560" y="4160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Faible mais pas de structure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49377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31520" y="5074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⚛️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Next.js 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5440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App Router, SSR, TypeScript, Tailwind v4</a:t>
            </a:r>
            <a:br/>
            <a:r>
              <a:t>Expertise React de l'equipe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34840" y="49377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617720" y="5074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3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PostgreSQL 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5440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Chiffrement natif pour RGPD</a:t>
            </a:r>
            <a:br/>
            <a:r>
              <a:t>Robustesse ACID, image Docker legere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21040" y="49377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503920" y="5074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React Native / Expo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5440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Cross-platform iOS + Android</a:t>
            </a:r>
            <a:br/>
            <a:r>
              <a:t>Meme ecosysteme que le web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Choix technologiques — Analyse comparative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Frontend / Backend / Base de 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rPr dirty="0"/>
              <a:t>Evaluation multi-crit</a:t>
            </a:r>
            <a:r>
              <a:rPr lang="fr-FR" dirty="0"/>
              <a:t>è</a:t>
            </a:r>
            <a:r>
              <a:rPr dirty="0"/>
              <a:t>res sur les 3 couches </a:t>
            </a:r>
            <a:r>
              <a:rPr dirty="0" err="1"/>
              <a:t>principales</a:t>
            </a:r>
            <a:r>
              <a:rPr dirty="0"/>
              <a:t> de </a:t>
            </a:r>
            <a:r>
              <a:rPr dirty="0" err="1"/>
              <a:t>l'application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3794760" cy="457200"/>
          </a:xfrm>
          <a:prstGeom prst="round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618488"/>
            <a:ext cx="3794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Frontend 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103120"/>
            <a:ext cx="3794760" cy="502920"/>
          </a:xfrm>
          <a:prstGeom prst="roundRect">
            <a:avLst/>
          </a:prstGeom>
          <a:solidFill>
            <a:srgbClr val="F2F6FA"/>
          </a:solidFill>
          <a:ln w="25400">
            <a:solidFill>
              <a:srgbClr val="61DA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39696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400"/>
              </a:spcAft>
              <a:defRPr sz="800" b="1" i="0">
                <a:solidFill>
                  <a:srgbClr val="61DAFB"/>
                </a:solidFill>
                <a:latin typeface="Calibri"/>
              </a:defRPr>
            </a:pPr>
            <a:r>
              <a:t>RETENU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222222"/>
                </a:solidFill>
                <a:latin typeface="Calibri"/>
              </a:defRPr>
            </a:pPr>
            <a:r>
              <a:t>Next.js 16 + React 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743200"/>
            <a:ext cx="14173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2779776"/>
            <a:ext cx="1380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Critere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743200"/>
            <a:ext cx="868680" cy="292608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47088" y="2779776"/>
            <a:ext cx="832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t>Next.js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743200"/>
            <a:ext cx="77724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15768" y="2779776"/>
            <a:ext cx="740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Vue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743200"/>
            <a:ext cx="7315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93008" y="2779776"/>
            <a:ext cx="694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Angular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035808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8912" y="3072384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035808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856232" y="3072384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61DAFB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3035808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24912" y="3072384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035808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02152" y="3072384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328416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" y="3364992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Prise en main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3328416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56232" y="3364992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61DAFB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328416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24912" y="3364992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0" y="3328416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02152" y="3364992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621024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" y="3657600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Ecosysteme React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3621024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856232" y="3657600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61DAFB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7480" y="3621024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24912" y="3657600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★★☆☆☆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0" y="3621024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502152" y="3657600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★☆☆☆☆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913632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8912" y="3950208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SSR / App Router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0" y="3913632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856232" y="3950208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61DAFB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97480" y="3913632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24912" y="3950208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3913632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502152" y="3950208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206240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8912" y="4242816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Licence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0" y="4206240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856232" y="4242816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61DAFB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4206240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24912" y="4242816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74720" y="4206240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502152" y="4242816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590288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61DAFB"/>
                </a:solidFill>
                <a:latin typeface="Calibri"/>
              </a:defRPr>
            </a:pPr>
            <a:r>
              <a:t>Pourquoi ce choix 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4846320"/>
            <a:ext cx="3703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25"/>
              </a:lnSpc>
              <a:spcAft>
                <a:spcPts val="400"/>
              </a:spcAft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t>Ecosysteme React maitrise, App Router + SSR natifs, TypeScript et Tailwind v4 de premier ordre.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43400" y="1554480"/>
            <a:ext cx="3794760" cy="4572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43400" y="1618488"/>
            <a:ext cx="3794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Backend API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43400" y="2103120"/>
            <a:ext cx="3794760" cy="502920"/>
          </a:xfrm>
          <a:prstGeom prst="roundRect">
            <a:avLst/>
          </a:prstGeom>
          <a:solidFill>
            <a:srgbClr val="F2F6FA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434840" y="2139696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400"/>
              </a:spcAft>
              <a:defRPr sz="800" b="1" i="0">
                <a:solidFill>
                  <a:srgbClr val="4CAF50"/>
                </a:solidFill>
                <a:latin typeface="Calibri"/>
              </a:defRPr>
            </a:pPr>
            <a:r>
              <a:t>RETENU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4840" y="2304288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222222"/>
                </a:solidFill>
                <a:latin typeface="Calibri"/>
              </a:defRPr>
            </a:pPr>
            <a:r>
              <a:t>Laravel 12 (PHP 8.2+)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43400" y="2743200"/>
            <a:ext cx="14173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361688" y="2779776"/>
            <a:ext cx="1380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Critere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2743200"/>
            <a:ext cx="86868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779008" y="2779776"/>
            <a:ext cx="832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t>Laravel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29400" y="2743200"/>
            <a:ext cx="77724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647688" y="2779776"/>
            <a:ext cx="740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Symfony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06640" y="2743200"/>
            <a:ext cx="7315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424928" y="2779776"/>
            <a:ext cx="694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Express.js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43400" y="3035808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370832" y="3072384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760720" y="3035808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788152" y="3072384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3035808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56832" y="3072384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06640" y="3035808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434072" y="3072384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43400" y="3328416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70832" y="3364992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Prise en main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60720" y="3328416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788152" y="3364992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3328416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656832" y="3364992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406640" y="3328416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434072" y="3364992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43400" y="3621024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370832" y="3657600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MVC natif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760720" y="3621024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788152" y="3657600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629400" y="3621024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656832" y="3657600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406640" y="3621024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434072" y="3657600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★☆☆☆☆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343400" y="3913632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370832" y="3950208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Auth integree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60720" y="3913632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788152" y="3950208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29400" y="3913632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656832" y="3950208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406640" y="3913632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434072" y="3950208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★★☆☆☆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343400" y="4206240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370832" y="4242816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Licence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60720" y="4206240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788152" y="4242816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629400" y="4206240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56832" y="4242816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406640" y="4206240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7434072" y="4242816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MIT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89120" y="4590288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4CAF50"/>
                </a:solidFill>
                <a:latin typeface="Calibri"/>
              </a:defRPr>
            </a:pPr>
            <a:r>
              <a:t>Pourquoi ce choix ?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89120" y="4846320"/>
            <a:ext cx="3703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25"/>
              </a:lnSpc>
              <a:spcAft>
                <a:spcPts val="400"/>
              </a:spcAft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t>MVC convention-over-config, Eloquent ORM, Sanctum pour tokens API, documentation exceptionnelle.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275320" y="1554480"/>
            <a:ext cx="3794760" cy="457200"/>
          </a:xfrm>
          <a:prstGeom prst="roundRect">
            <a:avLst/>
          </a:prstGeom>
          <a:solidFill>
            <a:srgbClr val="336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75320" y="1618488"/>
            <a:ext cx="3794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Base de donnees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275320" y="2103120"/>
            <a:ext cx="3794760" cy="502920"/>
          </a:xfrm>
          <a:prstGeom prst="roundRect">
            <a:avLst/>
          </a:prstGeom>
          <a:solidFill>
            <a:srgbClr val="F2F6FA"/>
          </a:solidFill>
          <a:ln w="2540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8366760" y="2139696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400"/>
              </a:spcAft>
              <a:defRPr sz="800" b="1" i="0">
                <a:solidFill>
                  <a:srgbClr val="336791"/>
                </a:solidFill>
                <a:latin typeface="Calibri"/>
              </a:defRPr>
            </a:pPr>
            <a:r>
              <a:t>RETENU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66760" y="2304288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1" i="0">
                <a:solidFill>
                  <a:srgbClr val="222222"/>
                </a:solidFill>
                <a:latin typeface="Calibri"/>
              </a:defRPr>
            </a:pPr>
            <a:r>
              <a:t>PostgreSQL 16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275320" y="2743200"/>
            <a:ext cx="14173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93608" y="2779776"/>
            <a:ext cx="1380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Critere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692640" y="2743200"/>
            <a:ext cx="868680" cy="292608"/>
          </a:xfrm>
          <a:prstGeom prst="rect">
            <a:avLst/>
          </a:prstGeom>
          <a:solidFill>
            <a:srgbClr val="336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710928" y="2779776"/>
            <a:ext cx="8321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61320" y="2743200"/>
            <a:ext cx="77724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579608" y="2779776"/>
            <a:ext cx="740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MySQL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338560" y="2743200"/>
            <a:ext cx="73152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1356848" y="2779776"/>
            <a:ext cx="694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MongoDB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275320" y="3035808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302752" y="3072384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692640" y="3035808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9720072" y="3072384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336791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561320" y="3035808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10588752" y="3072384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1338560" y="3035808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365992" y="3072384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75320" y="3328416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8302752" y="3364992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Conformite SQL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692640" y="3328416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9720072" y="3364992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336791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561320" y="3328416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10588752" y="3364992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338560" y="3328416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1365992" y="3364992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★☆☆☆☆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621024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8302752" y="3657600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Integrite ACID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692640" y="3621024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9720072" y="3657600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336791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561320" y="3621024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10588752" y="3657600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★★★★☆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338560" y="3621024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11365992" y="3657600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75320" y="3913632"/>
            <a:ext cx="14173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8302752" y="3950208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Chiffrement natif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692640" y="3913632"/>
            <a:ext cx="868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9720072" y="3950208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336791"/>
                </a:solidFill>
                <a:latin typeface="Calibri"/>
              </a:defRPr>
            </a:pPr>
            <a:r>
              <a:t>★★★★★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561320" y="3913632"/>
            <a:ext cx="777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10588752" y="3950208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338560" y="3913632"/>
            <a:ext cx="7315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1365992" y="3950208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★★★☆☆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275320" y="4206240"/>
            <a:ext cx="14173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8302752" y="4242816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22222"/>
                </a:solidFill>
                <a:latin typeface="Calibri"/>
              </a:defRPr>
            </a:pPr>
            <a:r>
              <a:t>Licence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692640" y="4206240"/>
            <a:ext cx="86868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9720072" y="4242816"/>
            <a:ext cx="813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336791"/>
                </a:solidFill>
                <a:latin typeface="Calibri"/>
              </a:defRPr>
            </a:pPr>
            <a:r>
              <a:t>PostgreSQL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561320" y="4206240"/>
            <a:ext cx="77724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10588752" y="4242816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GPL dual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338560" y="4206240"/>
            <a:ext cx="731520" cy="29260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1365992" y="4242816"/>
            <a:ext cx="676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400"/>
              </a:spcAft>
              <a:defRPr sz="900" b="0" i="0">
                <a:solidFill>
                  <a:srgbClr val="222222"/>
                </a:solidFill>
                <a:latin typeface="Calibri"/>
              </a:defRPr>
            </a:pPr>
            <a:r>
              <a:t>SSPL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21040" y="4590288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336791"/>
                </a:solidFill>
                <a:latin typeface="Calibri"/>
              </a:defRPr>
            </a:pPr>
            <a:r>
              <a:t>Pourquoi ce choix ?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321040" y="4846320"/>
            <a:ext cx="3703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25"/>
              </a:lnSpc>
              <a:spcAft>
                <a:spcPts val="400"/>
              </a:spcAft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t>Chiffrement natif adapte au RGPD, robustesse ACID, image Docker officielle legere.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Comparaison etablie sur les criteres prioritaires du projet : RGPD, maintenabilite, competences equipe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Respect du pattern MVC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032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rPr dirty="0"/>
              <a:t>Separation </a:t>
            </a:r>
            <a:r>
              <a:rPr dirty="0" err="1"/>
              <a:t>stricte</a:t>
            </a:r>
            <a:r>
              <a:rPr dirty="0"/>
              <a:t> des </a:t>
            </a:r>
            <a:r>
              <a:rPr dirty="0" err="1"/>
              <a:t>responsabilit</a:t>
            </a:r>
            <a:r>
              <a:rPr lang="fr-FR" dirty="0"/>
              <a:t>é</a:t>
            </a:r>
            <a:r>
              <a:rPr dirty="0"/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rPr dirty="0"/>
              <a:t>Architecture </a:t>
            </a:r>
            <a:r>
              <a:rPr dirty="0" err="1"/>
              <a:t>en</a:t>
            </a:r>
            <a:r>
              <a:rPr dirty="0"/>
              <a:t> couches </a:t>
            </a:r>
            <a:r>
              <a:rPr dirty="0" err="1"/>
              <a:t>decoupl</a:t>
            </a:r>
            <a:r>
              <a:rPr lang="fr-FR" dirty="0"/>
              <a:t>é</a:t>
            </a:r>
            <a:r>
              <a:rPr dirty="0"/>
              <a:t>es : API Laravel (Model + Controller) + SPA Next.js (View)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3520440" cy="33832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520440" cy="6858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67335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400"/>
              </a:spcAft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842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1">
                <a:solidFill>
                  <a:srgbClr val="FFFFFF"/>
                </a:solidFill>
                <a:latin typeface="Calibri"/>
              </a:defRPr>
            </a:pPr>
            <a:r>
              <a:t>Donnees + logique metier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2196F3"/>
                </a:solidFill>
                <a:latin typeface="Calibri"/>
              </a:defRPr>
            </a:pPr>
            <a:r>
              <a:t>Fichiers reels du projet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834640"/>
            <a:ext cx="73152" cy="73152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76148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app/Models/User.php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182112"/>
            <a:ext cx="73152" cy="73152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10896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app/Models/Resource.php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529584"/>
            <a:ext cx="73152" cy="73152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456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app/Models/Comment.php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3877056"/>
            <a:ext cx="73152" cy="73152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80390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app/Models/Favorite.php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224528"/>
            <a:ext cx="73152" cy="73152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15137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+ Category, Progression, RelationType, ResourceType, ActivitySession, ResourceView, SearchLog</a:t>
            </a:r>
            <a:br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297680" y="1600200"/>
            <a:ext cx="3520440" cy="33832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7E5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97680" y="1600200"/>
            <a:ext cx="3520440" cy="68580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7680" y="167335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400"/>
              </a:spcAft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CONTROLLER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19842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1">
                <a:solidFill>
                  <a:srgbClr val="FFFFFF"/>
                </a:solidFill>
                <a:latin typeface="Calibri"/>
              </a:defRPr>
            </a:pPr>
            <a:r>
              <a:t>Requetes + routing +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4688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7E57C2"/>
                </a:solidFill>
                <a:latin typeface="Calibri"/>
              </a:defRPr>
            </a:pPr>
            <a:r>
              <a:t>Fichiers reels du projet</a:t>
            </a:r>
          </a:p>
        </p:txBody>
      </p:sp>
      <p:sp>
        <p:nvSpPr>
          <p:cNvPr id="30" name="Oval 29"/>
          <p:cNvSpPr/>
          <p:nvPr/>
        </p:nvSpPr>
        <p:spPr>
          <a:xfrm>
            <a:off x="4526280" y="2834640"/>
            <a:ext cx="73152" cy="73152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63440" y="276148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app/Http/Controllers/</a:t>
            </a:r>
            <a:br/>
            <a:r>
              <a:t>  AuthController.php</a:t>
            </a:r>
          </a:p>
        </p:txBody>
      </p:sp>
      <p:sp>
        <p:nvSpPr>
          <p:cNvPr id="32" name="Oval 31"/>
          <p:cNvSpPr/>
          <p:nvPr/>
        </p:nvSpPr>
        <p:spPr>
          <a:xfrm>
            <a:off x="4526280" y="3182112"/>
            <a:ext cx="73152" cy="73152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310896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ResourceController.php</a:t>
            </a:r>
          </a:p>
        </p:txBody>
      </p:sp>
      <p:sp>
        <p:nvSpPr>
          <p:cNvPr id="34" name="Oval 33"/>
          <p:cNvSpPr/>
          <p:nvPr/>
        </p:nvSpPr>
        <p:spPr>
          <a:xfrm>
            <a:off x="4526280" y="3529584"/>
            <a:ext cx="73152" cy="73152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63440" y="3456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CommentController.php</a:t>
            </a:r>
          </a:p>
        </p:txBody>
      </p:sp>
      <p:sp>
        <p:nvSpPr>
          <p:cNvPr id="36" name="Oval 35"/>
          <p:cNvSpPr/>
          <p:nvPr/>
        </p:nvSpPr>
        <p:spPr>
          <a:xfrm>
            <a:off x="4526280" y="3877056"/>
            <a:ext cx="73152" cy="73152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63440" y="380390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AdminController.php</a:t>
            </a:r>
          </a:p>
        </p:txBody>
      </p:sp>
      <p:sp>
        <p:nvSpPr>
          <p:cNvPr id="38" name="Oval 37"/>
          <p:cNvSpPr/>
          <p:nvPr/>
        </p:nvSpPr>
        <p:spPr>
          <a:xfrm>
            <a:off x="4526280" y="4224528"/>
            <a:ext cx="73152" cy="73152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63440" y="415137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+ Moderation, Favorite, Progression, SuperAdmin, Activity, Category</a:t>
            </a:r>
            <a:br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138160" y="1600200"/>
            <a:ext cx="3520440" cy="33832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138160" y="1600200"/>
            <a:ext cx="3520440" cy="685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138160" y="167335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400"/>
              </a:spcAft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19842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0" i="1">
                <a:solidFill>
                  <a:srgbClr val="FFFFFF"/>
                </a:solidFill>
                <a:latin typeface="Calibri"/>
              </a:defRPr>
            </a:pPr>
            <a:r>
              <a:t>Affichage + UI + rendu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46888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400"/>
              </a:spcAft>
              <a:defRPr sz="900" b="1" i="0">
                <a:solidFill>
                  <a:srgbClr val="4CAF50"/>
                </a:solidFill>
                <a:latin typeface="Calibri"/>
              </a:defRPr>
            </a:pPr>
            <a:r>
              <a:t>Fichiers reels du projet</a:t>
            </a:r>
          </a:p>
        </p:txBody>
      </p:sp>
      <p:sp>
        <p:nvSpPr>
          <p:cNvPr id="47" name="Oval 46"/>
          <p:cNvSpPr/>
          <p:nvPr/>
        </p:nvSpPr>
        <p:spPr>
          <a:xfrm>
            <a:off x="8366760" y="2834640"/>
            <a:ext cx="73152" cy="7315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03920" y="276148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apps/web/src/app/</a:t>
            </a:r>
            <a:br/>
            <a:r>
              <a:t>  (main)/ressources/</a:t>
            </a:r>
          </a:p>
        </p:txBody>
      </p:sp>
      <p:sp>
        <p:nvSpPr>
          <p:cNvPr id="49" name="Oval 48"/>
          <p:cNvSpPr/>
          <p:nvPr/>
        </p:nvSpPr>
        <p:spPr>
          <a:xfrm>
            <a:off x="8366760" y="3182112"/>
            <a:ext cx="73152" cy="7315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03920" y="310896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(main)/auth/connexion/</a:t>
            </a:r>
          </a:p>
        </p:txBody>
      </p:sp>
      <p:sp>
        <p:nvSpPr>
          <p:cNvPr id="51" name="Oval 50"/>
          <p:cNvSpPr/>
          <p:nvPr/>
        </p:nvSpPr>
        <p:spPr>
          <a:xfrm>
            <a:off x="8366760" y="3529584"/>
            <a:ext cx="73152" cy="7315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03920" y="3456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admin/</a:t>
            </a:r>
          </a:p>
        </p:txBody>
      </p:sp>
      <p:sp>
        <p:nvSpPr>
          <p:cNvPr id="53" name="Oval 52"/>
          <p:cNvSpPr/>
          <p:nvPr/>
        </p:nvSpPr>
        <p:spPr>
          <a:xfrm>
            <a:off x="8366760" y="3877056"/>
            <a:ext cx="73152" cy="7315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503920" y="380390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components/ui/Button, Card,</a:t>
            </a:r>
            <a:br/>
            <a:r>
              <a:t>  Badge, Input</a:t>
            </a:r>
          </a:p>
        </p:txBody>
      </p:sp>
      <p:sp>
        <p:nvSpPr>
          <p:cNvPr id="55" name="Oval 54"/>
          <p:cNvSpPr/>
          <p:nvPr/>
        </p:nvSpPr>
        <p:spPr>
          <a:xfrm>
            <a:off x="8366760" y="4224528"/>
            <a:ext cx="73152" cy="7315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03920" y="415137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+ ResourceCard, Navbar,</a:t>
            </a:r>
            <a:br/>
            <a:r>
              <a:t>  AuthContext</a:t>
            </a:r>
          </a:p>
        </p:txBody>
      </p:sp>
      <p:sp>
        <p:nvSpPr>
          <p:cNvPr id="59" name="Left-Right Arrow 58"/>
          <p:cNvSpPr/>
          <p:nvPr/>
        </p:nvSpPr>
        <p:spPr>
          <a:xfrm>
            <a:off x="3950208" y="3086100"/>
            <a:ext cx="374904" cy="41148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Left-Right Arrow 59"/>
          <p:cNvSpPr/>
          <p:nvPr/>
        </p:nvSpPr>
        <p:spPr>
          <a:xfrm>
            <a:off x="7790688" y="3086100"/>
            <a:ext cx="374904" cy="41148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4983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1D3A6D"/>
                </a:solidFill>
                <a:latin typeface="Calibri"/>
              </a:defRPr>
            </a:pPr>
            <a:r>
              <a:t>Conformite MVC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212080"/>
            <a:ext cx="1371600" cy="365760"/>
          </a:xfrm>
          <a:prstGeom prst="rect">
            <a:avLst/>
          </a:prstGeom>
          <a:solidFill>
            <a:srgbClr val="1D3A6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30352" y="5285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Role MVC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28800" y="5212080"/>
            <a:ext cx="2286000" cy="365760"/>
          </a:xfrm>
          <a:prstGeom prst="rect">
            <a:avLst/>
          </a:prstGeom>
          <a:solidFill>
            <a:srgbClr val="1D3A6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901952" y="5285232"/>
            <a:ext cx="2139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Responsabilite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0" y="5212080"/>
            <a:ext cx="5943600" cy="365760"/>
          </a:xfrm>
          <a:prstGeom prst="rect">
            <a:avLst/>
          </a:prstGeom>
          <a:solidFill>
            <a:srgbClr val="1D3A6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87952" y="5285232"/>
            <a:ext cx="5797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0" y="5212080"/>
            <a:ext cx="1645920" cy="365760"/>
          </a:xfrm>
          <a:prstGeom prst="rect">
            <a:avLst/>
          </a:prstGeom>
          <a:solidFill>
            <a:srgbClr val="1D3A6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131552" y="5285232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Conforme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577840"/>
            <a:ext cx="13716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352" y="56509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2196F3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0" y="5577840"/>
            <a:ext cx="22860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901952" y="5650992"/>
            <a:ext cx="21396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rPr dirty="0"/>
              <a:t>Donn</a:t>
            </a:r>
            <a:r>
              <a:rPr lang="fr-FR" dirty="0"/>
              <a:t>é</a:t>
            </a:r>
            <a:r>
              <a:rPr dirty="0"/>
              <a:t>es, </a:t>
            </a:r>
            <a:r>
              <a:rPr dirty="0" err="1"/>
              <a:t>logique</a:t>
            </a:r>
            <a:r>
              <a:rPr dirty="0"/>
              <a:t> </a:t>
            </a:r>
            <a:r>
              <a:rPr dirty="0" err="1"/>
              <a:t>metier</a:t>
            </a:r>
            <a:r>
              <a:rPr dirty="0"/>
              <a:t>, </a:t>
            </a:r>
            <a:r>
              <a:rPr dirty="0" err="1"/>
              <a:t>acces</a:t>
            </a:r>
            <a:r>
              <a:rPr dirty="0"/>
              <a:t> BDD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0" y="5577840"/>
            <a:ext cx="59436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187952" y="5650992"/>
            <a:ext cx="5797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13 modeles Eloquent (User, Resource, Comment, Activity...)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0" y="5577840"/>
            <a:ext cx="164592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131552" y="5650992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4CAF50"/>
                </a:solidFill>
                <a:latin typeface="Calibri"/>
              </a:defRPr>
            </a:pPr>
            <a:r>
              <a:t>✓ Oui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94360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30352" y="60167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7E57C2"/>
                </a:solidFill>
                <a:latin typeface="Calibri"/>
              </a:defRPr>
            </a:pPr>
            <a:r>
              <a:t>Controller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0" y="5943600"/>
            <a:ext cx="2286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901952" y="6016752"/>
            <a:ext cx="2139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Traitement HTTP, routing, validation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5943600"/>
            <a:ext cx="5943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87952" y="6016752"/>
            <a:ext cx="5797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10 controllers + FormRequest + Policies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0" y="5943600"/>
            <a:ext cx="1645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0131552" y="6016752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4CAF50"/>
                </a:solidFill>
                <a:latin typeface="Calibri"/>
              </a:defRPr>
            </a:pPr>
            <a:r>
              <a:t>✓ Oui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6309360"/>
            <a:ext cx="13716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30352" y="63825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4CAF50"/>
                </a:solidFill>
                <a:latin typeface="Calibri"/>
              </a:defRPr>
            </a:pPr>
            <a:r>
              <a:t>View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28800" y="6309360"/>
            <a:ext cx="22860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901952" y="6382512"/>
            <a:ext cx="2139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Affichage, templates, rendu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0" y="6309360"/>
            <a:ext cx="594360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187952" y="6382512"/>
            <a:ext cx="5797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SPA Next.js decouplee (App Router + composants)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0" y="6309360"/>
            <a:ext cx="1645920" cy="365760"/>
          </a:xfrm>
          <a:prstGeom prst="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131552" y="6382512"/>
            <a:ext cx="14996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4CAF50"/>
                </a:solidFill>
                <a:latin typeface="Calibri"/>
              </a:defRPr>
            </a:pPr>
            <a:r>
              <a:t>✓ Oui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514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rPr dirty="0"/>
              <a:t>Demo </a:t>
            </a:r>
            <a:r>
              <a:rPr lang="fr-FR" dirty="0"/>
              <a:t>-</a:t>
            </a:r>
            <a:r>
              <a:rPr dirty="0"/>
              <a:t> </a:t>
            </a:r>
            <a:r>
              <a:rPr dirty="0" err="1"/>
              <a:t>Parcours</a:t>
            </a:r>
            <a:r>
              <a:rPr dirty="0"/>
              <a:t> </a:t>
            </a:r>
            <a:r>
              <a:rPr dirty="0" err="1"/>
              <a:t>citoyen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Front-office public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7315200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i="1">
                <a:solidFill>
                  <a:srgbClr val="666666"/>
                </a:solidFill>
              </a:defRPr>
            </a:pPr>
            <a:r>
              <a:t>[IMAGE A INSERER]</a:t>
            </a:r>
            <a:br/>
            <a:r>
              <a:t>DEMO LIVE — Front-office</a:t>
            </a:r>
            <a:br/>
            <a:br/>
            <a:r>
              <a:t>Basculer vers le navigateur ici</a:t>
            </a:r>
            <a:br/>
            <a:r>
              <a:t>http://localhost:3005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Parcours a montrer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1. Page d'accueil (hero, categories)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2. Listing ressources + filtres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3. Detail ressource + commentaires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4. Inscription nouveau compte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5. Connexion citoyen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6. Ajout favori + commentaire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t>7. Tableau de progression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Backup : captures d'ecran si Docker ne demarre 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Demo — Espace d'administration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Back-office et moderation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7315200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i="1">
                <a:solidFill>
                  <a:srgbClr val="666666"/>
                </a:solidFill>
              </a:defRPr>
            </a:pPr>
            <a:r>
              <a:t>[IMAGE A INSERER]</a:t>
            </a:r>
            <a:br/>
            <a:r>
              <a:t>DEMO LIVE — Back-office admin</a:t>
            </a:r>
            <a:br/>
            <a:br/>
            <a:r>
              <a:t>Basculer vers le navigateur ici</a:t>
            </a:r>
            <a:br/>
            <a:r>
              <a:t>http://localhost:3005/admin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Parcours a montrer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3657600" cy="207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1. Dashboard stats (barres + donut)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2. M</a:t>
            </a:r>
            <a:r>
              <a:rPr lang="fr-FR" dirty="0"/>
              <a:t>é</a:t>
            </a:r>
            <a:r>
              <a:rPr dirty="0" err="1"/>
              <a:t>triques</a:t>
            </a:r>
            <a:r>
              <a:rPr dirty="0"/>
              <a:t> cl</a:t>
            </a:r>
            <a:r>
              <a:rPr lang="fr-FR" dirty="0"/>
              <a:t>é</a:t>
            </a:r>
            <a:r>
              <a:rPr dirty="0"/>
              <a:t>s (users, </a:t>
            </a:r>
            <a:r>
              <a:rPr dirty="0" err="1"/>
              <a:t>actifs</a:t>
            </a:r>
            <a:r>
              <a:rPr dirty="0"/>
              <a:t>...)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3. Moderation : </a:t>
            </a:r>
            <a:r>
              <a:rPr dirty="0" err="1"/>
              <a:t>approuver</a:t>
            </a:r>
            <a:r>
              <a:rPr dirty="0"/>
              <a:t> </a:t>
            </a:r>
            <a:r>
              <a:rPr dirty="0" err="1"/>
              <a:t>ressource</a:t>
            </a:r>
            <a:endParaRPr dirty="0"/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4. Moderation : g</a:t>
            </a:r>
            <a:r>
              <a:rPr lang="fr-FR" dirty="0"/>
              <a:t>é</a:t>
            </a:r>
            <a:r>
              <a:rPr dirty="0" err="1"/>
              <a:t>rer</a:t>
            </a:r>
            <a:r>
              <a:rPr dirty="0"/>
              <a:t> </a:t>
            </a:r>
            <a:r>
              <a:rPr dirty="0" err="1"/>
              <a:t>commentaires</a:t>
            </a:r>
            <a:endParaRPr dirty="0"/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5. Gestion </a:t>
            </a:r>
            <a:r>
              <a:rPr dirty="0" err="1"/>
              <a:t>utilisateurs</a:t>
            </a:r>
            <a:r>
              <a:rPr dirty="0"/>
              <a:t> (CRUD)</a:t>
            </a:r>
          </a:p>
          <a:p>
            <a:pPr>
              <a:lnSpc>
                <a:spcPts val="2100"/>
              </a:lnSpc>
              <a:spcAft>
                <a:spcPts val="600"/>
              </a:spcAft>
              <a:defRPr sz="1400">
                <a:solidFill>
                  <a:srgbClr val="222222"/>
                </a:solidFill>
                <a:latin typeface="Calibri"/>
              </a:defRPr>
            </a:pPr>
            <a:r>
              <a:rPr dirty="0"/>
              <a:t>6. Gestion categories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5029200"/>
            <a:ext cx="3657600" cy="1097280"/>
          </a:xfrm>
          <a:prstGeom prst="roundRect">
            <a:avLst/>
          </a:prstGeom>
          <a:solidFill>
            <a:srgbClr val="FD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51206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222222"/>
                </a:solidFill>
                <a:latin typeface="Calibri"/>
              </a:defRPr>
            </a:pPr>
            <a:r>
              <a:t>Compte demo :</a:t>
            </a:r>
            <a:br/>
            <a:r>
              <a:t>superadmin@ressources.local</a:t>
            </a:r>
            <a:br/>
            <a:r>
              <a:t>Mot de passe : password123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Application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React Native / Expo — Cross-platform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029200" cy="3657600"/>
          </a:xfrm>
          <a:prstGeom prst="rect">
            <a:avLst/>
          </a:prstGeom>
          <a:solidFill>
            <a:srgbClr val="F5F5F5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i="1">
                <a:solidFill>
                  <a:srgbClr val="666666"/>
                </a:solidFill>
              </a:defRPr>
            </a:pPr>
            <a:r>
              <a:t>[IMAGE A INSERER]</a:t>
            </a:r>
            <a:br/>
            <a:r>
              <a:t>Schema d'architecture mobile</a:t>
            </a:r>
            <a:br/>
            <a:br/>
            <a:r>
              <a:t>Expo Router (file-based) + Stack natif</a:t>
            </a:r>
            <a:br/>
            <a:r>
              <a:t>→ API REST Laravel</a:t>
            </a:r>
            <a:br/>
            <a:r>
              <a:t>→ expo-secure-store (Keychain / Keystore)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Ecrans principaux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920240"/>
            <a:ext cx="1645920" cy="32004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89320" y="19385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Ecran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920240"/>
            <a:ext cx="1737360" cy="32004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19385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Fonctionnalite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0" y="1920240"/>
            <a:ext cx="2194560" cy="32004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72600" y="19385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spcAft>
                <a:spcPts val="400"/>
              </a:spcAft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Endpoint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240280"/>
            <a:ext cx="164592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Accueil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17373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2286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Liste ressources + filtres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2240280"/>
            <a:ext cx="21945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72600" y="228600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GET /api/resources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24328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6700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Creation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624328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35240" y="26700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Creation ressource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2624328"/>
            <a:ext cx="21945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72600" y="267004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POST /api/resources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008376"/>
            <a:ext cx="164592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89320" y="305409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Detail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3008376"/>
            <a:ext cx="17373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35240" y="30540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Detail + commentaires + favori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3008376"/>
            <a:ext cx="21945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72600" y="30540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GET /resources/{id}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392424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89320" y="343814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Connexion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3392424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635240" y="34381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Authentification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26880" y="3392424"/>
            <a:ext cx="21945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72600" y="34381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POST /api/login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3776472"/>
            <a:ext cx="164592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89320" y="382219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Profil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3776472"/>
            <a:ext cx="17373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35240" y="38221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Profil + deconnexion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3776472"/>
            <a:ext cx="2194560" cy="384048"/>
          </a:xfrm>
          <a:prstGeom prst="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372600" y="38221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GET /api/user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160520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Favoris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416052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35240" y="42062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Liste des favoris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0" y="4160520"/>
            <a:ext cx="21945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72600" y="4206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222222"/>
                </a:solidFill>
                <a:latin typeface="Calibri"/>
              </a:defRPr>
            </a:pPr>
            <a:r>
              <a:t>GET /api/resources/{id}/favorite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1D3A6D"/>
                </a:solidFill>
                <a:latin typeface="Calibri"/>
              </a:defRPr>
            </a:pPr>
            <a:r>
              <a:t>Un seul backend pour deux clients : l'application mobile consomme exactement la meme API REST que le web — aucune duplication de logique.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Securite en profondeur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Couches de protection et headers HTTP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03520" cy="7315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Sanitization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EEEEEE"/>
                </a:solidFill>
                <a:latin typeface="Calibri"/>
              </a:defRPr>
            </a:pPr>
            <a:r>
              <a:t>strip_tags, trim, normalisation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12848"/>
            <a:ext cx="5303520" cy="731520"/>
          </a:xfrm>
          <a:prstGeom prst="round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78608"/>
            <a:ext cx="4754880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EEEEEE"/>
                </a:solidFill>
                <a:latin typeface="Calibri"/>
              </a:defRPr>
            </a:pPr>
            <a:r>
              <a:rPr dirty="0" err="1"/>
              <a:t>FormRequest</a:t>
            </a:r>
            <a:r>
              <a:rPr dirty="0"/>
              <a:t>, r</a:t>
            </a:r>
            <a:r>
              <a:rPr lang="fr-FR" dirty="0"/>
              <a:t>è</a:t>
            </a:r>
            <a:r>
              <a:rPr dirty="0" err="1"/>
              <a:t>gles</a:t>
            </a:r>
            <a:r>
              <a:rPr dirty="0"/>
              <a:t> declaratives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54096"/>
            <a:ext cx="5303520" cy="731520"/>
          </a:xfrm>
          <a:prstGeom prst="round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Authentification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1985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EEEEEE"/>
                </a:solidFill>
                <a:latin typeface="Calibri"/>
              </a:defRPr>
            </a:pPr>
            <a:r>
              <a:t>Sanctum, tokens Bearer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95344"/>
            <a:ext cx="5303520" cy="73152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9684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Controle de roles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6110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EEEEEE"/>
                </a:solidFill>
                <a:latin typeface="Calibri"/>
              </a:defRPr>
            </a:pPr>
            <a:r>
              <a:t>RoleMiddleware + ResourcePolicy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36592"/>
            <a:ext cx="5303520" cy="73152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8097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Chiffrement BDD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023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 i="0">
                <a:solidFill>
                  <a:srgbClr val="EEEEEE"/>
                </a:solidFill>
                <a:latin typeface="Calibri"/>
              </a:defRPr>
            </a:pPr>
            <a:r>
              <a:t>Crypt::encryptString, email_hash SHA-256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Headers de securite HTTP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600"/>
              </a:spcAft>
              <a:defRPr sz="1200">
                <a:solidFill>
                  <a:srgbClr val="222222"/>
                </a:solidFill>
                <a:latin typeface="Calibri"/>
              </a:defRPr>
            </a:pPr>
            <a:r>
              <a:t>   X-Content-Type-Options: nosniff</a:t>
            </a:r>
          </a:p>
          <a:p>
            <a:pPr>
              <a:lnSpc>
                <a:spcPts val="1560"/>
              </a:lnSpc>
              <a:spcAft>
                <a:spcPts val="600"/>
              </a:spcAft>
              <a:defRPr sz="1200">
                <a:solidFill>
                  <a:srgbClr val="222222"/>
                </a:solidFill>
                <a:latin typeface="Calibri"/>
              </a:defRPr>
            </a:pPr>
            <a:r>
              <a:t>   X-Frame-Options: DENY</a:t>
            </a:r>
          </a:p>
          <a:p>
            <a:pPr>
              <a:lnSpc>
                <a:spcPts val="1560"/>
              </a:lnSpc>
              <a:spcAft>
                <a:spcPts val="600"/>
              </a:spcAft>
              <a:defRPr sz="1200">
                <a:solidFill>
                  <a:srgbClr val="222222"/>
                </a:solidFill>
                <a:latin typeface="Calibri"/>
              </a:defRPr>
            </a:pPr>
            <a:r>
              <a:t>   Referrer-Policy: no-referrer</a:t>
            </a:r>
          </a:p>
          <a:p>
            <a:pPr>
              <a:lnSpc>
                <a:spcPts val="1560"/>
              </a:lnSpc>
              <a:spcAft>
                <a:spcPts val="600"/>
              </a:spcAft>
              <a:defRPr sz="1200">
                <a:solidFill>
                  <a:srgbClr val="222222"/>
                </a:solidFill>
                <a:latin typeface="Calibri"/>
              </a:defRPr>
            </a:pPr>
            <a:r>
              <a:t>   X-XSS-Protection: 1; mode=block</a:t>
            </a:r>
          </a:p>
          <a:p>
            <a:pPr>
              <a:lnSpc>
                <a:spcPts val="1560"/>
              </a:lnSpc>
              <a:spcAft>
                <a:spcPts val="600"/>
              </a:spcAft>
              <a:defRPr sz="1200">
                <a:solidFill>
                  <a:srgbClr val="222222"/>
                </a:solidFill>
                <a:latin typeface="Calibri"/>
              </a:defRPr>
            </a:pPr>
            <a:r>
              <a:t>   Content-Security-Policy: default-src 'none';</a:t>
            </a:r>
            <a:br/>
            <a:r>
              <a:t>  frame-ancestors 'none'; base-uri 'self'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206240"/>
            <a:ext cx="5303520" cy="91440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42976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E53E3E"/>
                </a:solidFill>
                <a:latin typeface="Calibri"/>
              </a:defRPr>
            </a:pPr>
            <a:r>
              <a:t>Rate Limiting : 5 tentatives/min sur /login et /register</a:t>
            </a:r>
            <a:br/>
            <a:r>
              <a:t>HTTP 429 Too Many Requests apres depassement</a:t>
            </a:r>
            <a:br/>
            <a:r>
              <a:t>Teste dans AuthEndpointsTest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82296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53949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4CAF50"/>
                </a:solidFill>
                <a:latin typeface="Calibri"/>
              </a:defRPr>
            </a:pPr>
            <a:r>
              <a:t>RGPD : anonymisation logique via DELETE /api/user</a:t>
            </a:r>
            <a:br/>
            <a:r>
              <a:t>Nom → 'Deleted User' | Email → deleted-user-{uuid}@example.invalid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Notre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Sprints, Git Flow et conventions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Timeline des sprints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560320" cy="1463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S1 — Fondations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231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EEEEEE"/>
                </a:solidFill>
                <a:latin typeface="Calibri"/>
              </a:defRPr>
            </a:pPr>
            <a:r>
              <a:t>Setup Laravel,</a:t>
            </a:r>
            <a:br/>
            <a:r>
              <a:t>Next.js, Expo,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377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920240"/>
            <a:ext cx="2560320" cy="1463040"/>
          </a:xfrm>
          <a:prstGeom prst="round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S2 — Coeur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231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EEEEEE"/>
                </a:solidFill>
                <a:latin typeface="Calibri"/>
              </a:defRPr>
            </a:pPr>
            <a:r>
              <a:t>CRUD ressources,</a:t>
            </a:r>
            <a:br/>
            <a:r>
              <a:t>commentaires, favoris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4728" y="2377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1920240"/>
            <a:ext cx="2560320" cy="146304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S3 — Avance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4231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EEEEEE"/>
                </a:solidFill>
                <a:latin typeface="Calibri"/>
              </a:defRPr>
            </a:pPr>
            <a:r>
              <a:t>Admin, stats,</a:t>
            </a:r>
            <a:br/>
            <a:r>
              <a:t>RGAA, progression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377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1920240"/>
            <a:ext cx="2560320" cy="146304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6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S4 — Polish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4231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400"/>
              </a:spcAft>
              <a:defRPr sz="1200" b="0" i="0">
                <a:solidFill>
                  <a:srgbClr val="EEEEEE"/>
                </a:solidFill>
                <a:latin typeface="Calibri"/>
              </a:defRPr>
            </a:pPr>
            <a:r>
              <a:t>Tests, docs,</a:t>
            </a:r>
            <a:br/>
            <a:r>
              <a:t>corrections, slides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Git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5486400" cy="889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rPr dirty="0"/>
              <a:t>   main         Production stable, merge </a:t>
            </a:r>
            <a:r>
              <a:rPr dirty="0" err="1"/>
              <a:t>en</a:t>
            </a:r>
            <a:r>
              <a:rPr dirty="0"/>
              <a:t> fin de sprint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rPr dirty="0"/>
              <a:t>   develop     Int</a:t>
            </a:r>
            <a:r>
              <a:rPr lang="fr-FR" dirty="0"/>
              <a:t>é</a:t>
            </a:r>
            <a:r>
              <a:rPr dirty="0" err="1"/>
              <a:t>gration</a:t>
            </a:r>
            <a:r>
              <a:rPr dirty="0"/>
              <a:t>, </a:t>
            </a:r>
            <a:r>
              <a:rPr dirty="0" err="1"/>
              <a:t>toutes</a:t>
            </a:r>
            <a:r>
              <a:rPr dirty="0"/>
              <a:t> les features </a:t>
            </a:r>
            <a:r>
              <a:rPr dirty="0" err="1"/>
              <a:t>merg</a:t>
            </a:r>
            <a:r>
              <a:rPr lang="fr-FR" dirty="0"/>
              <a:t>é</a:t>
            </a:r>
            <a:r>
              <a:rPr dirty="0"/>
              <a:t>es via PR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rPr dirty="0"/>
              <a:t>   feature/*   Branches par </a:t>
            </a:r>
            <a:r>
              <a:rPr dirty="0" err="1"/>
              <a:t>fonctionnalit</a:t>
            </a:r>
            <a:r>
              <a:rPr lang="fr-FR" dirty="0"/>
              <a:t>é</a:t>
            </a:r>
            <a:r>
              <a:rPr dirty="0"/>
              <a:t>, squash and merge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40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1D3A6D"/>
                </a:solidFill>
                <a:latin typeface="Calibri"/>
              </a:defRPr>
            </a:pPr>
            <a:r>
              <a:t>Conventional Commits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976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t>   feat:      nouvelle fonctionnalite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t>   fix:        correction de bug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t>   docs:     documentation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t>   test:      ajout de tests</a:t>
            </a:r>
          </a:p>
          <a:p>
            <a:pPr>
              <a:lnSpc>
                <a:spcPts val="1690"/>
              </a:lnSpc>
              <a:spcAft>
                <a:spcPts val="600"/>
              </a:spcAft>
              <a:defRPr sz="1300">
                <a:solidFill>
                  <a:srgbClr val="222222"/>
                </a:solidFill>
                <a:latin typeface="Calibri"/>
              </a:defRPr>
            </a:pPr>
            <a:r>
              <a:t>   refactor: refactorisation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0720"/>
            <a:ext cx="11064240" cy="640080"/>
          </a:xfrm>
          <a:prstGeom prst="roundRect">
            <a:avLst/>
          </a:prstGeom>
          <a:solidFill>
            <a:srgbClr val="FD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400"/>
              </a:spcAft>
              <a:defRPr sz="1300" b="1" i="0">
                <a:solidFill>
                  <a:srgbClr val="CC7700"/>
                </a:solidFill>
                <a:latin typeface="Calibri"/>
              </a:defRPr>
            </a:pPr>
            <a:r>
              <a:t>Regle d'or : jamais de push direct sur main ou develop — tout passe par Pull Request avec review obligatoire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D3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1828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D3A6D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400"/>
              </a:spcAft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0" i="1">
                <a:solidFill>
                  <a:srgbClr val="BBCCEE"/>
                </a:solidFill>
                <a:latin typeface="Calibri"/>
              </a:defRPr>
            </a:pPr>
            <a:r>
              <a:t>Ce qui a bien fonctionne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🏗️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0876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Architecture MVC stricte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297180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/>
              <a:t>Laravel : </a:t>
            </a:r>
            <a:r>
              <a:rPr dirty="0" err="1"/>
              <a:t>maintenabilit</a:t>
            </a:r>
            <a:r>
              <a:rPr lang="fr-FR" dirty="0"/>
              <a:t>é</a:t>
            </a:r>
            <a:r>
              <a:rPr dirty="0"/>
              <a:t>, </a:t>
            </a:r>
            <a:r>
              <a:rPr dirty="0" err="1"/>
              <a:t>testabilit</a:t>
            </a:r>
            <a:r>
              <a:rPr lang="fr-FR" dirty="0"/>
              <a:t>é</a:t>
            </a:r>
            <a:r>
              <a:rPr dirty="0"/>
              <a:t>,</a:t>
            </a:r>
            <a:br>
              <a:rPr dirty="0"/>
            </a:br>
            <a:r>
              <a:rPr dirty="0"/>
              <a:t>s</a:t>
            </a:r>
            <a:r>
              <a:rPr lang="fr-FR" dirty="0"/>
              <a:t>é</a:t>
            </a:r>
            <a:r>
              <a:rPr dirty="0" err="1"/>
              <a:t>paration</a:t>
            </a:r>
            <a:r>
              <a:rPr dirty="0"/>
              <a:t> </a:t>
            </a:r>
            <a:r>
              <a:rPr dirty="0" err="1"/>
              <a:t>claire</a:t>
            </a:r>
            <a:r>
              <a:rPr dirty="0"/>
              <a:t> des </a:t>
            </a:r>
            <a:r>
              <a:rPr dirty="0" err="1"/>
              <a:t>responsabilit</a:t>
            </a:r>
            <a:r>
              <a:rPr lang="fr-FR" dirty="0"/>
              <a:t>é</a:t>
            </a:r>
            <a:r>
              <a:rPr dirty="0"/>
              <a:t>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508760"/>
            <a:ext cx="2606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rPr dirty="0" err="1"/>
              <a:t>Securite</a:t>
            </a:r>
            <a:r>
              <a:rPr dirty="0"/>
              <a:t> </a:t>
            </a:r>
            <a:r>
              <a:rPr dirty="0" err="1"/>
              <a:t>renforc</a:t>
            </a:r>
            <a:r>
              <a:rPr lang="fr-FR" dirty="0"/>
              <a:t>é</a:t>
            </a:r>
            <a:r>
              <a:rPr dirty="0"/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874520"/>
            <a:ext cx="297180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 err="1"/>
              <a:t>Chiffrement</a:t>
            </a:r>
            <a:r>
              <a:rPr dirty="0"/>
              <a:t> </a:t>
            </a:r>
            <a:r>
              <a:rPr dirty="0" err="1"/>
              <a:t>donn</a:t>
            </a:r>
            <a:r>
              <a:rPr lang="fr-FR" dirty="0"/>
              <a:t>é</a:t>
            </a:r>
            <a:r>
              <a:rPr dirty="0"/>
              <a:t>es, </a:t>
            </a:r>
            <a:r>
              <a:rPr dirty="0" err="1"/>
              <a:t>anonymisation</a:t>
            </a:r>
            <a:r>
              <a:rPr dirty="0"/>
              <a:t> RGPD,</a:t>
            </a:r>
            <a:br>
              <a:rPr dirty="0"/>
            </a:br>
            <a:r>
              <a:rPr dirty="0"/>
              <a:t>headers HTTP, rate limiting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37160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508760"/>
            <a:ext cx="2606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rPr dirty="0" err="1"/>
              <a:t>Accessibilit</a:t>
            </a:r>
            <a:r>
              <a:rPr lang="fr-FR" dirty="0"/>
              <a:t>é</a:t>
            </a:r>
            <a:r>
              <a:rPr dirty="0"/>
              <a:t> RGAA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874520"/>
            <a:ext cx="297180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/>
              <a:t>Skip links, ARIA, focus visible, </a:t>
            </a:r>
            <a:r>
              <a:rPr dirty="0" err="1"/>
              <a:t>contraste</a:t>
            </a:r>
            <a:r>
              <a:rPr dirty="0"/>
              <a:t> AAA</a:t>
            </a:r>
            <a:br>
              <a:rPr dirty="0"/>
            </a:br>
            <a:r>
              <a:rPr dirty="0" err="1"/>
              <a:t>integr</a:t>
            </a:r>
            <a:r>
              <a:rPr lang="fr-FR" dirty="0"/>
              <a:t>é</a:t>
            </a:r>
            <a:r>
              <a:rPr dirty="0"/>
              <a:t>s des la conception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6324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2004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30 tests backend + 14 tests mobile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566160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Backend : PHPUnit (Auth, CRUD, admin, moderation, interactions)
Mobile : Jest + @testing-library/react-native (services)</a:t>
            </a:r>
            <a:br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343400" y="306324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3200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2004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t>Docker reproductible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566160"/>
            <a:ext cx="297180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rPr dirty="0"/>
              <a:t>4 services </a:t>
            </a:r>
            <a:r>
              <a:rPr dirty="0" err="1"/>
              <a:t>containeris</a:t>
            </a:r>
            <a:r>
              <a:rPr lang="fr-FR" dirty="0"/>
              <a:t>é</a:t>
            </a:r>
            <a:r>
              <a:rPr dirty="0"/>
              <a:t>s, health checks,</a:t>
            </a:r>
            <a:br>
              <a:rPr dirty="0"/>
            </a:br>
            <a:r>
              <a:rPr dirty="0" err="1"/>
              <a:t>environnement</a:t>
            </a:r>
            <a:r>
              <a:rPr dirty="0"/>
              <a:t> </a:t>
            </a:r>
            <a:r>
              <a:rPr dirty="0" err="1"/>
              <a:t>identique</a:t>
            </a:r>
            <a:r>
              <a:rPr dirty="0"/>
              <a:t> pour </a:t>
            </a:r>
            <a:r>
              <a:rPr dirty="0" err="1"/>
              <a:t>tous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8229600" y="3063240"/>
            <a:ext cx="3520440" cy="141732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3200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Aft>
                <a:spcPts val="400"/>
              </a:spcAft>
              <a:defRPr sz="2200" b="0" i="0">
                <a:solidFill>
                  <a:srgbClr val="222222"/>
                </a:solidFill>
                <a:latin typeface="Calibri"/>
              </a:defRPr>
            </a:pPr>
            <a:r>
              <a:t>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200400"/>
            <a:ext cx="2606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1" i="0">
                <a:solidFill>
                  <a:srgbClr val="1D3A6D"/>
                </a:solidFill>
                <a:latin typeface="Calibri"/>
              </a:defRPr>
            </a:pPr>
            <a:r>
              <a:rPr dirty="0"/>
              <a:t>Workflow Git </a:t>
            </a:r>
            <a:r>
              <a:rPr dirty="0" err="1"/>
              <a:t>structur</a:t>
            </a:r>
            <a:r>
              <a:rPr lang="fr-FR" dirty="0"/>
              <a:t>é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8503920" y="3566160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400"/>
              </a:spcAft>
              <a:defRPr sz="1200" b="0" i="0">
                <a:solidFill>
                  <a:srgbClr val="666666"/>
                </a:solidFill>
                <a:latin typeface="Calibri"/>
              </a:defRPr>
            </a:pPr>
            <a:r>
              <a:t>PR obligatoires, review, conventional commits,</a:t>
            </a:r>
            <a:br/>
            <a:r>
              <a:t>squash and merge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2A5D"/>
              </a:gs>
              <a:gs pos="100000">
                <a:srgbClr val="1D3A6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Aft>
                <a:spcPts val="400"/>
              </a:spcAft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Et si on continuait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0" i="1">
                <a:solidFill>
                  <a:srgbClr val="AABBDD"/>
                </a:solidFill>
                <a:latin typeface="Calibri"/>
              </a:defRPr>
            </a:pPr>
            <a:r>
              <a:t>Perspectives d'evolution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5029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Court terme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Tests E2E</a:t>
            </a:r>
            <a:br/>
            <a:r>
              <a:t>(Cypress / 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Enrichissement app 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6344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Couverture de code</a:t>
            </a:r>
            <a:br/>
            <a:r>
              <a:t>(Istanbul / c8)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3474720" cy="502920"/>
          </a:xfrm>
          <a:prstGeom prst="round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627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Moyen terme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19456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Messagerie entre</a:t>
            </a:r>
            <a:br/>
            <a:r>
              <a:t>participants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42900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720" y="356616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Export statistiques</a:t>
            </a:r>
            <a:br/>
            <a:r>
              <a:t>(CSV, PDF)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66344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720" y="480060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Pipeline CI/CD</a:t>
            </a:r>
            <a:br/>
            <a:r>
              <a:t>(GitHub Actions)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554480"/>
            <a:ext cx="3474720" cy="50292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1627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 i="0">
                <a:solidFill>
                  <a:srgbClr val="222222"/>
                </a:solidFill>
                <a:latin typeface="Calibri"/>
              </a:defRPr>
            </a:pPr>
            <a:r>
              <a:t>Long terme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219456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Support multilingue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42900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356616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Notifications push</a:t>
            </a:r>
            <a:br/>
            <a:r>
              <a:t>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663440"/>
            <a:ext cx="3291840" cy="1051560"/>
          </a:xfrm>
          <a:prstGeom prst="roundRect">
            <a:avLst/>
          </a:prstGeom>
          <a:solidFill>
            <a:srgbClr val="152E55"/>
          </a:solidFill>
          <a:ln w="12700">
            <a:solidFill>
              <a:srgbClr val="3A5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480060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Mode hors-ligne</a:t>
            </a:r>
            <a:br/>
            <a:r>
              <a:t>partiel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400"/>
              </a:spcAft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Merci de votre attention — Place aux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spcAft>
                <a:spcPts val="400"/>
              </a:spcAft>
              <a:defRPr sz="1000" b="0" i="0">
                <a:solidFill>
                  <a:srgbClr val="BBBBBB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1689</Words>
  <Application>Microsoft Office PowerPoint</Application>
  <PresentationFormat>Grand écran</PresentationFormat>
  <Paragraphs>367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HAMAD JAMAL</cp:lastModifiedBy>
  <cp:revision>2</cp:revision>
  <dcterms:created xsi:type="dcterms:W3CDTF">2013-01-27T09:14:16Z</dcterms:created>
  <dcterms:modified xsi:type="dcterms:W3CDTF">2026-04-13T14:18:08Z</dcterms:modified>
  <cp:category/>
</cp:coreProperties>
</file>