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A5D"/>
              </a:gs>
              <a:gs pos="100000">
                <a:srgbClr val="1D3A6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40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(RE)Sources Relationnelles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  <a:defRPr sz="2000" b="0" i="1">
                <a:solidFill>
                  <a:srgbClr val="CCDDEE"/>
                </a:solidFill>
                <a:latin typeface="Calibri"/>
              </a:defRPr>
            </a:pPr>
            <a:r>
              <a:t>Plateforme de ressources pour l'amelioration des relations entre citoyens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Projet collaboratif — INFCDAAL2 — CESI Ecole d'Ingenieurs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06240"/>
            <a:ext cx="2468880" cy="123444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Chamil MUSAYEV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5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Backend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AABBCC"/>
                </a:solidFill>
                <a:latin typeface="Calibri"/>
              </a:defRPr>
            </a:pPr>
            <a:r>
              <a:t>API, BDD, Auth, Securite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206240"/>
            <a:ext cx="2468880" cy="123444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Jamal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645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Frontend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AABBCC"/>
                </a:solidFill>
                <a:latin typeface="Calibri"/>
              </a:defRPr>
            </a:pPr>
            <a:r>
              <a:t>Next.js, RGAA,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06240"/>
            <a:ext cx="2468880" cy="123444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Romain CONDOMITTI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45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Back-office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AABBCC"/>
                </a:solidFill>
                <a:latin typeface="Calibri"/>
              </a:defRPr>
            </a:pPr>
            <a:r>
              <a:t>Admin, Auth, Moderation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206240"/>
            <a:ext cx="2468880" cy="123444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Leon HEU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4645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Mobile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AABBCC"/>
                </a:solidFill>
                <a:latin typeface="Calibri"/>
              </a:defRPr>
            </a:pPr>
            <a:r>
              <a:t>React Native, Expo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8899BB"/>
                </a:solidFill>
                <a:latin typeface="Calibri"/>
              </a:defRPr>
            </a:pPr>
            <a:r>
              <a:t>Soutenance — Avril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Contexte et 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Le Ministere des Solidarites et de la Sante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  <a:defRPr sz="2200" b="1" i="0">
                <a:solidFill>
                  <a:srgbClr val="1D3A6D"/>
                </a:solidFill>
                <a:latin typeface="Calibri"/>
              </a:defRPr>
            </a:pPr>
            <a:r>
              <a:t>Pourquoi ce projet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Commande simulee du Ministere des Solidarites et de la Sante</a:t>
            </a:r>
          </a:p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Constat : la qualite de nos relations est un levier majeur de bien-etre (Maslow)</a:t>
            </a:r>
          </a:p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Objectif : plateforme de ressources pour tous les types de relations</a:t>
            </a:r>
          </a:p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Cible : couple, famille, amis, collegues — tous les citoyens</a:t>
            </a:r>
          </a:p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Fonctionnalites : consultation, creation, echanges moderes, progression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371600"/>
            <a:ext cx="4389120" cy="320040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Pyramide de Maslow</a:t>
            </a:r>
            <a:br/>
            <a:r>
              <a:t>(schema simplifie)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03520"/>
            <a:ext cx="11064240" cy="82296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500" b="0" i="1">
                <a:solidFill>
                  <a:srgbClr val="1D3A6D"/>
                </a:solidFill>
                <a:latin typeface="Calibri"/>
              </a:defRPr>
            </a:pPr>
            <a:r>
              <a:t>"L'un des leviers les plus importants reste la qualite de nos relations aux autres" — Cahier des charges CCTP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Analyse fonctionnelle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Diagramme de cas d'utilisation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858000" cy="484632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Diagramme de cas d'utilisation UML</a:t>
            </a:r>
            <a:br/>
            <a:br/>
            <a:r>
              <a:t>5 acteurs : Citoyen non connecte, Citoyen connecte,</a:t>
            </a:r>
            <a:br/>
            <a:r>
              <a:t>Moderateur, Administrateur, Super-admin</a:t>
            </a:r>
            <a:br/>
            <a:br/>
            <a:r>
              <a:t>(draw.io / PlantUML / StarUML)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Citoyen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Consulte, cree, commente, favoris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51460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Moderateur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Valide ressources et commentaires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56616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Administrateur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Statistiques, suspension, catalogue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61772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Super-admin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206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Cree comptes privilegies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Analyse de la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Bete a cornes et diagramme pieuvre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Diagramme bete a cornes</a:t>
            </a:r>
            <a:br/>
            <a:br/>
            <a:r>
              <a:t>A qui ? Citoyens, familles, couples</a:t>
            </a:r>
            <a:br/>
            <a:r>
              <a:t>Sur quoi ? Relations interpersonnelles</a:t>
            </a:r>
            <a:br/>
            <a:r>
              <a:t>Pourquoi ? Ameliorer la qualite des liens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Diagramme pieuvre</a:t>
            </a:r>
            <a:br/>
            <a:br/>
            <a:r>
              <a:t>FP1 : Acces web aux ressources</a:t>
            </a:r>
            <a:br/>
            <a:r>
              <a:t>FP2 : Acces mobile</a:t>
            </a:r>
            <a:br/>
            <a:r>
              <a:t>FC1 : RGPD / RGAA</a:t>
            </a:r>
            <a:br/>
            <a:r>
              <a:t>FC2 : Performance</a:t>
            </a:r>
            <a:br/>
            <a:r>
              <a:t>FC3 : Navigateurs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FP = Fonction Principale    |    FC = Fonction Contrainte    |    Les deux diagrammes ont ete realises conformement au CCTP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Choix technologiques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Pourquoi Laravel + Next.js + PostgreSQL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Critere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Laravel 11 (retenu)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560320" cy="502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222222"/>
                </a:solidFill>
                <a:latin typeface="Calibri"/>
              </a:defRPr>
            </a:pPr>
            <a:r>
              <a:t>Symfony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560320" cy="502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222222"/>
                </a:solidFill>
                <a:latin typeface="Calibri"/>
              </a:defRPr>
            </a:pPr>
            <a:r>
              <a:t>Express.js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MVC natif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Oui, convention over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Oui, plus verbeux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Non, structuration manuelle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Auth integree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Sanctum (tokens API legers)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Security Bundle (complexe)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Passport.js (tiers)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1752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01752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Eloquent (Active Record)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01752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Doctrine (Data Mapper)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01752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Sequelize/Prisma (tiers)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FormRequest declares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Annotations/constraints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Joi/Yup (tiers)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11480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Courbe apprentissage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11480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Moderee, doc excellente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11480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Elevee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411480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Faible mais pas de structure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4937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⚛️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Next.js 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5440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App Router, SSR, TypeScript, Tailwind v4</a:t>
            </a:r>
            <a:br/>
            <a:r>
              <a:t>Expertise React de l'equipe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34840" y="4937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177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663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5440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Chiffrement natif pour RGPD</a:t>
            </a:r>
            <a:br/>
            <a:r>
              <a:t>Robustesse ACID, image Docker legere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21040" y="4937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React Native / Expo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5440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Cross-platform iOS + Android</a:t>
            </a:r>
            <a:br/>
            <a:r>
              <a:t>Meme ecosysteme que le web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Choix technologiques — Analyse comparative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Frontend / Backend / Base de 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Evaluation multi-criteres sur les 3 couches principales de l'application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3794760" cy="457200"/>
          </a:xfrm>
          <a:prstGeom prst="round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1848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Frontend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03120"/>
            <a:ext cx="3794760" cy="5029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39696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400"/>
              </a:spcAft>
              <a:defRPr sz="800" b="1" i="0">
                <a:solidFill>
                  <a:srgbClr val="61DAFB"/>
                </a:solidFill>
                <a:latin typeface="Calibri"/>
              </a:defRPr>
            </a:pPr>
            <a:r>
              <a:t>RETENU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222222"/>
                </a:solidFill>
                <a:latin typeface="Calibri"/>
              </a:defRPr>
            </a:pPr>
            <a:r>
              <a:t>Next.js 16 + React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43200"/>
            <a:ext cx="141732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779776"/>
            <a:ext cx="1380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Critere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743200"/>
            <a:ext cx="868680" cy="292608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2779776"/>
            <a:ext cx="832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Next.js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743200"/>
            <a:ext cx="77724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779776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743200"/>
            <a:ext cx="73152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779776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Angular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035808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072384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035808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56232" y="3072384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61DAFB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035808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4912" y="3072384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035808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3072384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328416"/>
            <a:ext cx="1417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364992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Prise en main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3328416"/>
            <a:ext cx="868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56232" y="3364992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61DAFB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3328416"/>
            <a:ext cx="777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4912" y="3364992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3328416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3364992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621024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657600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Ecosysteme React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3621024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56232" y="3657600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61DAFB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7480" y="3621024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24912" y="3657600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★★☆☆☆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621024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02152" y="3657600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★☆☆☆☆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913632"/>
            <a:ext cx="1417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3950208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SSR / App Router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3913632"/>
            <a:ext cx="868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56232" y="3950208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61DAFB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3913632"/>
            <a:ext cx="777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24912" y="3950208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3913632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02152" y="3950208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206240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424281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Licence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4206240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56232" y="4242816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61DAFB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7480" y="4206240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24912" y="4242816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4206240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02152" y="4242816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590288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61DAFB"/>
                </a:solidFill>
                <a:latin typeface="Calibri"/>
              </a:defRPr>
            </a:pPr>
            <a:r>
              <a:t>Pourquoi ce choix 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84632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  <a:defRPr sz="900" b="0" i="1">
                <a:solidFill>
                  <a:srgbClr val="666666"/>
                </a:solidFill>
                <a:latin typeface="Calibri"/>
              </a:defRPr>
            </a:pPr>
            <a:r>
              <a:t>Ecosysteme React maitrise, App Router + SSR natifs, TypeScript et Tailwind v4 de premier ordre.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43400" y="1554480"/>
            <a:ext cx="379476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161848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43400" y="2103120"/>
            <a:ext cx="3794760" cy="5029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34840" y="2139696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400"/>
              </a:spcAft>
              <a:defRPr sz="800" b="1" i="0">
                <a:solidFill>
                  <a:srgbClr val="4CAF50"/>
                </a:solidFill>
                <a:latin typeface="Calibri"/>
              </a:defRPr>
            </a:pPr>
            <a:r>
              <a:t>RETENU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4840" y="230428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222222"/>
                </a:solidFill>
                <a:latin typeface="Calibri"/>
              </a:defRPr>
            </a:pPr>
            <a:r>
              <a:t>Laravel 12 (PHP 8.2+)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43400" y="2743200"/>
            <a:ext cx="141732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61688" y="2779776"/>
            <a:ext cx="1380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Critere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0" y="2743200"/>
            <a:ext cx="868680" cy="2926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79008" y="2779776"/>
            <a:ext cx="832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Laravel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29400" y="2743200"/>
            <a:ext cx="77724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47688" y="2779776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Symfony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06640" y="2743200"/>
            <a:ext cx="73152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24928" y="2779776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Express.js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43400" y="3035808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70832" y="3072384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0720" y="3035808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88152" y="3072384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4CAF50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3035808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56832" y="3072384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3035808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34072" y="3072384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43400" y="3328416"/>
            <a:ext cx="1417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70832" y="3364992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Prise en main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60720" y="3328416"/>
            <a:ext cx="868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88152" y="3364992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4CAF50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3328416"/>
            <a:ext cx="777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56832" y="3364992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406640" y="3328416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34072" y="3364992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43400" y="3621024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70832" y="3657600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MVC natif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0720" y="3621024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88152" y="3657600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4CAF50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29400" y="3621024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56832" y="3657600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06640" y="3621024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34072" y="3657600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★☆☆☆☆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43400" y="3913632"/>
            <a:ext cx="1417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70832" y="3950208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Auth integree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760720" y="3913632"/>
            <a:ext cx="868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88152" y="3950208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4CAF50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29400" y="3913632"/>
            <a:ext cx="777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656832" y="3950208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406640" y="3913632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34072" y="3950208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★★☆☆☆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343400" y="4206240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70832" y="424281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Licence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60720" y="4206240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788152" y="4242816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4CAF50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29400" y="4206240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56832" y="4242816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406640" y="4206240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434072" y="4242816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89120" y="4590288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4CAF50"/>
                </a:solidFill>
                <a:latin typeface="Calibri"/>
              </a:defRPr>
            </a:pPr>
            <a:r>
              <a:t>Pourquoi ce choix ?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89120" y="484632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  <a:defRPr sz="900" b="0" i="1">
                <a:solidFill>
                  <a:srgbClr val="666666"/>
                </a:solidFill>
                <a:latin typeface="Calibri"/>
              </a:defRPr>
            </a:pPr>
            <a:r>
              <a:t>MVC convention-over-config, Eloquent ORM, Sanctum pour tokens API, documentation exceptionnelle.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275320" y="1554480"/>
            <a:ext cx="3794760" cy="457200"/>
          </a:xfrm>
          <a:prstGeom prst="round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75320" y="161848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Base de donnees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275320" y="2103120"/>
            <a:ext cx="3794760" cy="5029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66760" y="2139696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400"/>
              </a:spcAft>
              <a:defRPr sz="800" b="1" i="0">
                <a:solidFill>
                  <a:srgbClr val="336791"/>
                </a:solidFill>
                <a:latin typeface="Calibri"/>
              </a:defRPr>
            </a:pPr>
            <a:r>
              <a:t>RETENU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66760" y="230428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222222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75320" y="2743200"/>
            <a:ext cx="141732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293608" y="2779776"/>
            <a:ext cx="1380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Critere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692640" y="2743200"/>
            <a:ext cx="868680" cy="292608"/>
          </a:xfrm>
          <a:prstGeom prst="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710928" y="2779776"/>
            <a:ext cx="832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61320" y="2743200"/>
            <a:ext cx="77724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579608" y="2779776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MySQL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338560" y="2743200"/>
            <a:ext cx="73152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356848" y="2779776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275320" y="3035808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302752" y="3072384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692640" y="3035808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720072" y="3072384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336791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561320" y="3035808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588752" y="3072384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338560" y="3035808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365992" y="3072384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75320" y="3328416"/>
            <a:ext cx="1417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02752" y="3364992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Conformite SQL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692640" y="3328416"/>
            <a:ext cx="868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720072" y="3364992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336791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61320" y="3328416"/>
            <a:ext cx="777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588752" y="3364992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338560" y="3328416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365992" y="3364992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★☆☆☆☆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621024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302752" y="3657600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Integrite ACID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92640" y="3621024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20072" y="3657600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336791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561320" y="3621024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588752" y="3657600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338560" y="3621024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365992" y="3657600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275320" y="3913632"/>
            <a:ext cx="1417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302752" y="3950208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Chiffrement natif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692640" y="3913632"/>
            <a:ext cx="868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720072" y="3950208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336791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561320" y="3913632"/>
            <a:ext cx="777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588752" y="3950208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338560" y="3913632"/>
            <a:ext cx="731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365992" y="3950208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275320" y="4206240"/>
            <a:ext cx="14173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302752" y="424281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22222"/>
                </a:solidFill>
                <a:latin typeface="Calibri"/>
              </a:defRPr>
            </a:pPr>
            <a:r>
              <a:t>Licence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692640" y="4206240"/>
            <a:ext cx="86868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720072" y="4242816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336791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561320" y="4206240"/>
            <a:ext cx="77724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588752" y="4242816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GPL dual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338560" y="4206240"/>
            <a:ext cx="731520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365992" y="4242816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0">
                <a:solidFill>
                  <a:srgbClr val="222222"/>
                </a:solidFill>
                <a:latin typeface="Calibri"/>
              </a:defRPr>
            </a:pPr>
            <a:r>
              <a:t>SSPL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321040" y="4590288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336791"/>
                </a:solidFill>
                <a:latin typeface="Calibri"/>
              </a:defRPr>
            </a:pPr>
            <a:r>
              <a:t>Pourquoi ce choix ?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321040" y="484632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400"/>
              </a:spcAft>
              <a:defRPr sz="900" b="0" i="1">
                <a:solidFill>
                  <a:srgbClr val="666666"/>
                </a:solidFill>
                <a:latin typeface="Calibri"/>
              </a:defRPr>
            </a:pPr>
            <a:r>
              <a:t>Chiffrement natif adapte au RGPD, robustesse ACID, image Docker officielle legere.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Comparaison etablie sur les criteres prioritaires du projet : RGPD, maintenabilite, competences equipe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Respect du pattern MVC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Separation stricte des responsabilites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Architecture en couches decouplees : API Laravel (Model + Controller) + SPA Next.js (View)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520440" cy="3383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520440" cy="6858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733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Donnees + logique metier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2196F3"/>
                </a:solidFill>
                <a:latin typeface="Calibri"/>
              </a:defRPr>
            </a:pPr>
            <a:r>
              <a:t>Fichiers reels du projet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834640"/>
            <a:ext cx="73152" cy="73152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6148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app/Models/User.php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182112"/>
            <a:ext cx="73152" cy="73152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089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app/Models/Resource.php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529584"/>
            <a:ext cx="73152" cy="73152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564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app/Models/Comment.php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877056"/>
            <a:ext cx="73152" cy="73152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0390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app/Models/Favorite.php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224528"/>
            <a:ext cx="73152" cy="73152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5137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+ Category, Progression,</a:t>
            </a:r>
            <a:br/>
            <a:r>
              <a:t>  RelationType, ResourceType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97680"/>
            <a:ext cx="3246120" cy="54864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7083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1">
                <a:solidFill>
                  <a:srgbClr val="666666"/>
                </a:solidFill>
                <a:latin typeface="Calibri"/>
              </a:defRPr>
            </a:pPr>
            <a:r>
              <a:t>Eloquent ORM</a:t>
            </a:r>
            <a:br/>
            <a:r>
              <a:t>Relations, scopes, casts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1600200"/>
            <a:ext cx="3520440" cy="3383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1600200"/>
            <a:ext cx="3520440" cy="68580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16733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19842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Requetes + routing +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4688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7E57C2"/>
                </a:solidFill>
                <a:latin typeface="Calibri"/>
              </a:defRPr>
            </a:pPr>
            <a:r>
              <a:t>Fichiers reels du projet</a:t>
            </a:r>
          </a:p>
        </p:txBody>
      </p:sp>
      <p:sp>
        <p:nvSpPr>
          <p:cNvPr id="30" name="Oval 29"/>
          <p:cNvSpPr/>
          <p:nvPr/>
        </p:nvSpPr>
        <p:spPr>
          <a:xfrm>
            <a:off x="4526280" y="2834640"/>
            <a:ext cx="73152" cy="7315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76148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app/Http/Controllers/</a:t>
            </a:r>
            <a:br/>
            <a:r>
              <a:t>  AuthController.php</a:t>
            </a:r>
          </a:p>
        </p:txBody>
      </p:sp>
      <p:sp>
        <p:nvSpPr>
          <p:cNvPr id="32" name="Oval 31"/>
          <p:cNvSpPr/>
          <p:nvPr/>
        </p:nvSpPr>
        <p:spPr>
          <a:xfrm>
            <a:off x="4526280" y="3182112"/>
            <a:ext cx="73152" cy="7315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1089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ResourceController.php</a:t>
            </a:r>
          </a:p>
        </p:txBody>
      </p:sp>
      <p:sp>
        <p:nvSpPr>
          <p:cNvPr id="34" name="Oval 33"/>
          <p:cNvSpPr/>
          <p:nvPr/>
        </p:nvSpPr>
        <p:spPr>
          <a:xfrm>
            <a:off x="4526280" y="3529584"/>
            <a:ext cx="73152" cy="7315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34564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CommentController.php</a:t>
            </a:r>
          </a:p>
        </p:txBody>
      </p:sp>
      <p:sp>
        <p:nvSpPr>
          <p:cNvPr id="36" name="Oval 35"/>
          <p:cNvSpPr/>
          <p:nvPr/>
        </p:nvSpPr>
        <p:spPr>
          <a:xfrm>
            <a:off x="4526280" y="3877056"/>
            <a:ext cx="73152" cy="7315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80390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AdminController.php</a:t>
            </a:r>
          </a:p>
        </p:txBody>
      </p:sp>
      <p:sp>
        <p:nvSpPr>
          <p:cNvPr id="38" name="Oval 37"/>
          <p:cNvSpPr/>
          <p:nvPr/>
        </p:nvSpPr>
        <p:spPr>
          <a:xfrm>
            <a:off x="4526280" y="4224528"/>
            <a:ext cx="73152" cy="7315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15137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+ Moderation, Favorite,</a:t>
            </a:r>
            <a:br/>
            <a:r>
              <a:t>  Progression, SuperAdmin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4297680"/>
            <a:ext cx="3246120" cy="54864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37083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1">
                <a:solidFill>
                  <a:srgbClr val="666666"/>
                </a:solidFill>
                <a:latin typeface="Calibri"/>
              </a:defRPr>
            </a:pPr>
            <a:r>
              <a:t>FormRequest + Policies</a:t>
            </a:r>
            <a:br/>
            <a:r>
              <a:t>Middleware auth:sanctum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1600200"/>
            <a:ext cx="3520440" cy="3383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38160" y="1600200"/>
            <a:ext cx="3520440" cy="685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16733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19842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Affichage + UI + rendu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4688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1" i="0">
                <a:solidFill>
                  <a:srgbClr val="4CAF50"/>
                </a:solidFill>
                <a:latin typeface="Calibri"/>
              </a:defRPr>
            </a:pPr>
            <a:r>
              <a:t>Fichiers reels du projet</a:t>
            </a:r>
          </a:p>
        </p:txBody>
      </p:sp>
      <p:sp>
        <p:nvSpPr>
          <p:cNvPr id="47" name="Oval 46"/>
          <p:cNvSpPr/>
          <p:nvPr/>
        </p:nvSpPr>
        <p:spPr>
          <a:xfrm>
            <a:off x="8366760" y="2834640"/>
            <a:ext cx="73152" cy="7315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276148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apps/web/src/app/</a:t>
            </a:r>
            <a:br/>
            <a:r>
              <a:t>  (main)/ressources/</a:t>
            </a:r>
          </a:p>
        </p:txBody>
      </p:sp>
      <p:sp>
        <p:nvSpPr>
          <p:cNvPr id="49" name="Oval 48"/>
          <p:cNvSpPr/>
          <p:nvPr/>
        </p:nvSpPr>
        <p:spPr>
          <a:xfrm>
            <a:off x="8366760" y="3182112"/>
            <a:ext cx="73152" cy="7315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31089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(main)/auth/connexion/</a:t>
            </a:r>
          </a:p>
        </p:txBody>
      </p:sp>
      <p:sp>
        <p:nvSpPr>
          <p:cNvPr id="51" name="Oval 50"/>
          <p:cNvSpPr/>
          <p:nvPr/>
        </p:nvSpPr>
        <p:spPr>
          <a:xfrm>
            <a:off x="8366760" y="3529584"/>
            <a:ext cx="73152" cy="7315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34564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administration/</a:t>
            </a:r>
          </a:p>
        </p:txBody>
      </p:sp>
      <p:sp>
        <p:nvSpPr>
          <p:cNvPr id="53" name="Oval 52"/>
          <p:cNvSpPr/>
          <p:nvPr/>
        </p:nvSpPr>
        <p:spPr>
          <a:xfrm>
            <a:off x="8366760" y="3877056"/>
            <a:ext cx="73152" cy="7315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80390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components/ui/Button, Card,</a:t>
            </a:r>
            <a:br/>
            <a:r>
              <a:t>  Badge, Input</a:t>
            </a:r>
          </a:p>
        </p:txBody>
      </p:sp>
      <p:sp>
        <p:nvSpPr>
          <p:cNvPr id="55" name="Oval 54"/>
          <p:cNvSpPr/>
          <p:nvPr/>
        </p:nvSpPr>
        <p:spPr>
          <a:xfrm>
            <a:off x="8366760" y="4224528"/>
            <a:ext cx="73152" cy="7315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0" y="415137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+ ResourceCard, Navbar,</a:t>
            </a:r>
            <a:br/>
            <a:r>
              <a:t>  AuthContext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75320" y="4297680"/>
            <a:ext cx="3246120" cy="54864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437083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400"/>
              </a:spcAft>
              <a:defRPr sz="900" b="0" i="1">
                <a:solidFill>
                  <a:srgbClr val="666666"/>
                </a:solidFill>
                <a:latin typeface="Calibri"/>
              </a:defRPr>
            </a:pPr>
            <a:r>
              <a:t>Next.js 16 App Router</a:t>
            </a:r>
            <a:br/>
            <a:r>
              <a:t>React 19 + TypeScript + Tailwind</a:t>
            </a:r>
          </a:p>
        </p:txBody>
      </p:sp>
      <p:sp>
        <p:nvSpPr>
          <p:cNvPr id="59" name="Left-Right Arrow 58"/>
          <p:cNvSpPr/>
          <p:nvPr/>
        </p:nvSpPr>
        <p:spPr>
          <a:xfrm>
            <a:off x="3950208" y="3086100"/>
            <a:ext cx="374904" cy="411480"/>
          </a:xfrm>
          <a:prstGeom prst="left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ft-Right Arrow 59"/>
          <p:cNvSpPr/>
          <p:nvPr/>
        </p:nvSpPr>
        <p:spPr>
          <a:xfrm>
            <a:off x="7790688" y="3086100"/>
            <a:ext cx="374904" cy="411480"/>
          </a:xfrm>
          <a:prstGeom prst="left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983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1D3A6D"/>
                </a:solidFill>
                <a:latin typeface="Calibri"/>
              </a:defRPr>
            </a:pPr>
            <a:r>
              <a:t>Conformite MVC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212080"/>
            <a:ext cx="1371600" cy="365760"/>
          </a:xfrm>
          <a:prstGeom prst="rect">
            <a:avLst/>
          </a:prstGeom>
          <a:solidFill>
            <a:srgbClr val="1D3A6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5285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Role MVC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5212080"/>
            <a:ext cx="2286000" cy="365760"/>
          </a:xfrm>
          <a:prstGeom prst="rect">
            <a:avLst/>
          </a:prstGeom>
          <a:solidFill>
            <a:srgbClr val="1D3A6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01952" y="5285232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Responsabilite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0" y="5212080"/>
            <a:ext cx="5943600" cy="365760"/>
          </a:xfrm>
          <a:prstGeom prst="rect">
            <a:avLst/>
          </a:prstGeom>
          <a:solidFill>
            <a:srgbClr val="1D3A6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87952" y="5285232"/>
            <a:ext cx="5797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0" y="5212080"/>
            <a:ext cx="1645920" cy="365760"/>
          </a:xfrm>
          <a:prstGeom prst="rect">
            <a:avLst/>
          </a:prstGeom>
          <a:solidFill>
            <a:srgbClr val="1D3A6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31552" y="5285232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Conforme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577840"/>
            <a:ext cx="1371600" cy="365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56509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2196F3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5577840"/>
            <a:ext cx="2286000" cy="365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01952" y="5650992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Donnees, logique metier, acces BDD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0" y="5577840"/>
            <a:ext cx="5943600" cy="365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87952" y="5650992"/>
            <a:ext cx="5797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8 modeles Eloquent (User, Resource, Comment...)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0" y="5577840"/>
            <a:ext cx="1645920" cy="365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31552" y="5650992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4CAF50"/>
                </a:solidFill>
                <a:latin typeface="Calibri"/>
              </a:defRPr>
            </a:pPr>
            <a:r>
              <a:t>✓ Oui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94360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" y="60167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7E57C2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594360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01952" y="6016752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Traitement HTTP, routing, validation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5943600"/>
            <a:ext cx="5943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87952" y="6016752"/>
            <a:ext cx="5797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9 controllers + FormRequest + Policies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58400" y="59436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31552" y="6016752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4CAF50"/>
                </a:solidFill>
                <a:latin typeface="Calibri"/>
              </a:defRPr>
            </a:pPr>
            <a:r>
              <a:t>✓ Oui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6309360"/>
            <a:ext cx="1371600" cy="365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" y="63825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4CAF50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6309360"/>
            <a:ext cx="2286000" cy="365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901952" y="6382512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Affichage, templates, rendu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0" y="6309360"/>
            <a:ext cx="5943600" cy="365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87952" y="6382512"/>
            <a:ext cx="5797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SPA Next.js decouplee (App Router + composants)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31552" y="6382512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4CAF50"/>
                </a:solidFill>
                <a:latin typeface="Calibri"/>
              </a:defRPr>
            </a:pPr>
            <a:r>
              <a:t>✓ Oui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Separation stricte — aucune logique metier dans les vues, aucun rendu HTML dans les controllers (API JSON uniquement)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Demo — Parcours citoyen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Front-office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DEMO LIVE — Front-office</a:t>
            </a:r>
            <a:br/>
            <a:br/>
            <a:r>
              <a:t>Basculer vers le navigateur ici</a:t>
            </a:r>
            <a:br/>
            <a:r>
              <a:t>http://localhost:3005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Parcours a montrer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1. Page d'accueil (hero, categories)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2. Listing ressources + filtres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3. Detail ressource + commentaires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4. Inscription nouveau compte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5. Connexion citoyen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6. Ajout favori + commentaire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7. Tableau de progression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Backup : captures d'ecran si Docker ne demarre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Demo — Espace d'administration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Back-office et moderation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DEMO LIVE — Back-office admin</a:t>
            </a:r>
            <a:br/>
            <a:br/>
            <a:r>
              <a:t>Basculer vers le navigateur ici</a:t>
            </a:r>
            <a:br/>
            <a:r>
              <a:t>http://localhost:3005/administration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Parcours a montrer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1. Dashboard stats (barres + donut)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2. Metriques cles (users, actifs...)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3. Moderation : approuver ressource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4. Moderation : gerer commentaires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5. Gestion utilisateurs (CRUD)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6. Gestion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029200"/>
            <a:ext cx="3657600" cy="109728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51206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Compte demo :</a:t>
            </a:r>
            <a:br/>
            <a:r>
              <a:t>superadmin@ressources.local</a:t>
            </a:r>
            <a:br/>
            <a:r>
              <a:t>Mot de passe : password123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Application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React Native / Expo — Cross-platform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Schema d'architecture mobile</a:t>
            </a:r>
            <a:br/>
            <a:br/>
            <a:r>
              <a:t>Ecrans React Navigation (stack/tab)</a:t>
            </a:r>
            <a:br/>
            <a:r>
              <a:t>→ API REST Laravel</a:t>
            </a:r>
            <a:br/>
            <a:r>
              <a:t>→ AsyncStorage pour le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Ecrans principaux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920240"/>
            <a:ext cx="1645920" cy="32004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Ecran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920240"/>
            <a:ext cx="1737360" cy="32004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938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Fonctionnalite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920240"/>
            <a:ext cx="2194560" cy="32004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938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Endpoint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240280"/>
            <a:ext cx="164592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2860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Accueil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240280"/>
            <a:ext cx="17373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286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Acces rapide ressources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240280"/>
            <a:ext cx="21945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2860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/api/resources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2432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670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Ressources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62432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6700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Liste + filtres + recherche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624328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6700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/api/resources?...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008376"/>
            <a:ext cx="164592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0540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3008376"/>
            <a:ext cx="17373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30540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Contenu, commentaires, favori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3008376"/>
            <a:ext cx="21945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0540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/resources/{id}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392424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34381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Connexion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339242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34381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Authentification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3392424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43814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POST /api/login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776472"/>
            <a:ext cx="164592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38221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Profil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3776472"/>
            <a:ext cx="17373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3822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Info utilisateur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776472"/>
            <a:ext cx="21945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38221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/api/user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4160520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42062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Progression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4160520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42062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Favoris, exploites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4160520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42062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/api/progression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1D3A6D"/>
                </a:solidFill>
                <a:latin typeface="Calibri"/>
              </a:defRPr>
            </a:pPr>
            <a:r>
              <a:t>Un seul backend pour deux clients : l'application mobile consomme exactement la meme API REST que le web — aucune duplication de logique.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Securite en profondeur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Couches de protection et headers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Sanitization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strip_tags, trim, normalisation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2848"/>
            <a:ext cx="5303520" cy="7315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FormRequest, regles declaratives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54096"/>
            <a:ext cx="5303520" cy="731520"/>
          </a:xfrm>
          <a:prstGeom prst="round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27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Authentification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198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Sanctum, tokens Bearer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95344"/>
            <a:ext cx="5303520" cy="7315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68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Controle de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611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RoleMiddleware + ResourcePolicy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5303520" cy="73152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9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Chiffrement BDD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023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Crypt::encryptString, email_hash SHA-256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Headers de securite 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X-Content-Type-Options: nosniff</a:t>
            </a:r>
          </a:p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X-Frame-Options: DENY</a:t>
            </a:r>
          </a:p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Referrer-Policy: no-referrer</a:t>
            </a:r>
          </a:p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X-XSS-Protection: 1; mode=block</a:t>
            </a:r>
          </a:p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Content-Security-Policy: default-src 'none';</a:t>
            </a:r>
            <a:br/>
            <a:r>
              <a:t>  frame-ancestors 'none'; base-uri 'self'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06240"/>
            <a:ext cx="5303520" cy="91440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97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53E3E"/>
                </a:solidFill>
                <a:latin typeface="Calibri"/>
              </a:defRPr>
            </a:pPr>
            <a:r>
              <a:t>Rate Limiting : 5 tentatives/min sur /login et /register</a:t>
            </a:r>
            <a:br/>
            <a:r>
              <a:t>HTTP 429 Too Many Requests apres depassement</a:t>
            </a:r>
            <a:br/>
            <a:r>
              <a:t>Teste dans AuthEndpointsTest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03520"/>
            <a:ext cx="530352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394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4CAF50"/>
                </a:solidFill>
                <a:latin typeface="Calibri"/>
              </a:defRPr>
            </a:pPr>
            <a:r>
              <a:t>RGPD : anonymisation logique via DELETE /api/user</a:t>
            </a:r>
            <a:br/>
            <a:r>
              <a:t>Nom → 'Deleted User' | Email → deleted-user-{uuid}@example.invalid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Notre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Sprints, Git Flow et 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Timeline des sprints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2560320" cy="1463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S1 — Fondations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EEEEE"/>
                </a:solidFill>
                <a:latin typeface="Calibri"/>
              </a:defRPr>
            </a:pPr>
            <a:r>
              <a:t>Setup Laravel,</a:t>
            </a:r>
            <a:br/>
            <a:r>
              <a:t>Next.js, Expo,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920240"/>
            <a:ext cx="2560320" cy="146304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S2 — Coeur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EEEEE"/>
                </a:solidFill>
                <a:latin typeface="Calibri"/>
              </a:defRPr>
            </a:pPr>
            <a:r>
              <a:t>CRUD ressources,</a:t>
            </a:r>
            <a:br/>
            <a:r>
              <a:t>commentaires, favoris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920240"/>
            <a:ext cx="2560320" cy="14630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S3 — Avance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EEEEE"/>
                </a:solidFill>
                <a:latin typeface="Calibri"/>
              </a:defRPr>
            </a:pPr>
            <a:r>
              <a:t>Admin, stats,</a:t>
            </a:r>
            <a:br/>
            <a:r>
              <a:t>RGAA, 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920240"/>
            <a:ext cx="2560320" cy="14630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S4 — Polish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EEEEE"/>
                </a:solidFill>
                <a:latin typeface="Calibri"/>
              </a:defRPr>
            </a:pPr>
            <a:r>
              <a:t>Tests, docs,</a:t>
            </a:r>
            <a:br/>
            <a:r>
              <a:t>corrections, slides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Git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main         Production stable, merge en fin de sprint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develop     Integration, toutes les features mergees via PR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feature/*   Branches par fonctionnalite, squash and 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Conventional Commits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97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feat:      nouvelle fonctionnalite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fix:        correction de bug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docs:     documentation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test:      ajout de tests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refactor: refactorisation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0720"/>
            <a:ext cx="11064240" cy="64008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CC7700"/>
                </a:solidFill>
                <a:latin typeface="Calibri"/>
              </a:defRPr>
            </a:pPr>
            <a:r>
              <a:t>Regle d'or : jamais de push direct sur main ou develop — tout passe par Pull Request avec review obligatoire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Ce qui a bien fonctionne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Architecture MVC stricte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Laravel : maintenabilite, testabilite,</a:t>
            </a:r>
            <a:br/>
            <a:r>
              <a:t>separation claire des responsabilites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508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Securite renforcee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2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Chiffrement donnees, anonymisation RGPD,</a:t>
            </a:r>
            <a:br/>
            <a:r>
              <a:t>headers HTTP, rate limiting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508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Accessibilite RGAA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87452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Skip links, ARIA, focus visible, contraste AAA</a:t>
            </a:r>
            <a:br/>
            <a:r>
              <a:t>integres des la conception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6324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00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27 tests backend + 117 tests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Backend : PHPUnit (Auth, CRUD, admin, moderation)</a:t>
            </a:r>
            <a:br/>
            <a:r>
              <a:t>Frontend : Vitest + Testing Library (API, composants, contextes)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06324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200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Docker reproductible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56616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4 services containerises, health checks,</a:t>
            </a:r>
            <a:br/>
            <a:r>
              <a:t>environnement identique pour tous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06324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200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Workflow Git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6616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PR obligatoires, review, conventional commits,</a:t>
            </a:r>
            <a:br/>
            <a:r>
              <a:t>squash and merge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A5D"/>
              </a:gs>
              <a:gs pos="100000">
                <a:srgbClr val="1D3A6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40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Et si on continuait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0" i="1">
                <a:solidFill>
                  <a:srgbClr val="AABBDD"/>
                </a:solidFill>
                <a:latin typeface="Calibri"/>
              </a:defRPr>
            </a:pPr>
            <a:r>
              <a:t>Perspectives d'evolution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Court terme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Tests E2E</a:t>
            </a:r>
            <a:br/>
            <a:r>
              <a:t>(Cypress / Playwright)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Enrichissement app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6344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Couverture de code</a:t>
            </a:r>
            <a:br/>
            <a:r>
              <a:t>(Istanbul / c8)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47472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627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Moyen terme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19456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331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Messagerie entre</a:t>
            </a:r>
            <a:br/>
            <a:r>
              <a:t>participants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2900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5661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Export statistiques</a:t>
            </a:r>
            <a:br/>
            <a:r>
              <a:t>(CSV, PDF)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66344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800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Pipeline CI/CD</a:t>
            </a:r>
            <a:br/>
            <a:r>
              <a:t>(GitHub Actions)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554480"/>
            <a:ext cx="347472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627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222222"/>
                </a:solidFill>
                <a:latin typeface="Calibri"/>
              </a:defRPr>
            </a:pPr>
            <a:r>
              <a:t>Long terme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19456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Support multilingue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2900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5661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Notifications push</a:t>
            </a:r>
            <a:br/>
            <a:r>
              <a:t>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66344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800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Mode hors-ligne</a:t>
            </a:r>
            <a:br/>
            <a:r>
              <a:t>partiel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Merci de votre attention — Place aux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